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ommissioner" charset="-122"/>
      <p:regular r:id="rId21"/>
    </p:embeddedFont>
    <p:embeddedFont>
      <p:font typeface="Mona Sans Light" charset="-122"/>
      <p:regular r:id="rId22"/>
    </p:embeddedFont>
    <p:embeddedFont>
      <p:font typeface="Reddit Mono Medium" charset="-122"/>
      <p:regular r:id="rId23"/>
    </p:embeddedFont>
    <p:embeddedFont>
      <p:font typeface="Commissioner Bold" pitchFamily="2" charset="0"/>
      <p:regular r:id="rId24"/>
    </p:embeddedFont>
    <p:embeddedFont>
      <p:font typeface="Mona Sans Medium" pitchFamily="2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font" Target="fonts/font1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font" Target="fonts/font5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4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3.fntdata" /><Relationship Id="rId28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2.fntdata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8117C-C090-924F-9D65-AD2FEAE8C7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47C02-FC39-FE45-8131-84C8C567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89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supported settings for your deployed Chef Infra Client version. Modern clients can infer Policyfile mode from the policy settings; older deployments may require use_policyfile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9585" y="630238"/>
            <a:ext cx="833099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FFFFFF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CHEF INFRA · ENGINEERING GUIDE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09585" y="2428856"/>
            <a:ext cx="7721407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200" kern="100" spc="-78" dirty="0">
                <a:solidFill>
                  <a:srgbClr val="FFFFFF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Creating Chef Policyfiles for a New Server Class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09585" y="3992503"/>
            <a:ext cx="8330992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Define the class. Lock its dependencies. Promote the same revision.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09585" y="4564757"/>
            <a:ext cx="1930352" cy="38100"/>
          </a:xfrm>
          <a:prstGeom prst="roundRect">
            <a:avLst>
              <a:gd name="adj" fmla="val 49999"/>
            </a:avLst>
          </a:prstGeom>
          <a:solidFill>
            <a:srgbClr val="E8A65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751821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THE REASON TO CHANGE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6908627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Why enterprises move from roles to policyfiles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101380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Mutable configuration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3536514"/>
            <a:ext cx="3225719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Roles group recipes; environments scope configuration. Both are mutable, so a shared change can reach every consuming node at once.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2493" y="3101380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8A657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Locked policy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92493" y="3536514"/>
            <a:ext cx="322571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 Policyfile pins cookbooks and versions per server class: the same code in test and production, with controlled rollouts.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57548" y="3076773"/>
            <a:ext cx="12700" cy="1920577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THE OPERATING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A policyfile is one artifact per server class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7178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 server class is a group of nodes with the same configuration purpose.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305891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343374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9585" y="350887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Declare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944005"/>
            <a:ext cx="3352716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Policyfile.rb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describes the run list, cookbook sources and attributes.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19489" y="305891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19489" y="3343374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19489" y="350887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Lock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19489" y="3944005"/>
            <a:ext cx="3352716" cy="89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Policyfile.lock.json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freezes exact cookbook versions, identifiers and checksums.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394" y="305891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394" y="3343374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394" y="350887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Converge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29394" y="3944005"/>
            <a:ext cx="335271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Nodes apply the locked policy, not whichever cookbook happens to be newest.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Treat the declaration and its lock file as one version-controlled release unit.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DESIGN BEFORE CODE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Start by defining your server classes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7178"/>
            <a:ext cx="1158211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Choose one policy name per class, such as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web-frontend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. Separate shared configuration from class-specific behavior.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20193"/>
            <a:ext cx="10757325" cy="3809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6036389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Reuse cookbooks across policies; keep each class independently releasable.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DECLARATION REFERENCE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What goes inside Policyfile.rb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74404"/>
          <a:ext cx="10972526" cy="914400"/>
        </p:xfrm>
        <a:graphic>
          <a:graphicData uri="http://schemas.openxmlformats.org/drawingml/2006/table">
            <a:tbl>
              <a:tblPr/>
              <a:tblGrid>
                <a:gridCol w="3072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0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Field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What it controls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name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The policy name nodes will request.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default_source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Where cookbooks are fetched: Supermarket or an internal source.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run_list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The ordered recipes Chef Infra Client executes.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cookbook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Version constraints, a local path or a Git source.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0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Optional declarations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Class-wide attributes and named run lists for special runs.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AUTHOR · STEP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1: Generate the skeleton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467769"/>
            <a:ext cx="10972526" cy="731441"/>
          </a:xfrm>
          <a:prstGeom prst="roundRect">
            <a:avLst>
              <a:gd name="adj" fmla="val 1563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2670969"/>
            <a:ext cx="1109456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generate policyfile web-frontend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624501"/>
            <a:ext cx="11582110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Start with the generated defaults, then make the policy specific to this class.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4145955"/>
            <a:ext cx="10972526" cy="9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Keep one policy directory per server class in version control.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Policyfile.rb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as the standard declaration filename.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Set its policy name to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web-frontend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The generator may name the file web-frontend.rb. Rename it to Policyfile.rb for the commands that follow.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AUTHOR · STEP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2: Declare cookbook sources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084685"/>
            <a:ext cx="10972526" cy="2031603"/>
          </a:xfrm>
          <a:prstGeom prst="roundRect">
            <a:avLst>
              <a:gd name="adj" fmla="val 563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2287885"/>
            <a:ext cx="10484977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name 'web-frontend'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default_source :chef_server, 'https://chef.example.com/organizations/acme'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cookbook 'nginx', '~&gt; 12.0'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cookbook 'company_base', path: '../../cookbooks/company_base'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529038"/>
            <a:ext cx="10972526" cy="9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Point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default_source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at your approved internal source.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constraints to define acceptable versions; the lock selects exact ones.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path: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for in-house cookbooks under development.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Illustrative source and cookbook names. Replace them with your enterprise's approved endpoints and dependencies.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AUTHOR · STEP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3: Set the run list and attributes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925340"/>
            <a:ext cx="10972526" cy="2356644"/>
          </a:xfrm>
          <a:prstGeom prst="roundRect">
            <a:avLst>
              <a:gd name="adj" fmla="val 485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2128540"/>
            <a:ext cx="10484977" cy="1950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run_list 'company_base::default', 'nginx::default',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   'web_app::default'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default['web_app']['listen_port'] = 8080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named_run_list :maintenance, 'web_app::maintenance'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694734"/>
            <a:ext cx="10972526" cy="99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Order recipes from base hardening to the application.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Set class-wide defaults with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default['key']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attributes.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a named run list for an explicit special case, such as maintenance.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Example recipes must exist in the cookbooks resolved by your policy.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RESOLVE · STEP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4: Compile and lock with chef install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219027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503487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585" y="2668984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Policyfile.rb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3104118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Desired recipes, sources and constraints.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19489" y="2219027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19489" y="2503487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19489" y="2668984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Dependency solver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19489" y="3104118"/>
            <a:ext cx="3352716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install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resolves a compatible cookbook set.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394" y="2219027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394" y="2503487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394" y="2668984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Policyfile.lock.json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394" y="3104118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Exact cookbook content and a policy revision.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5" y="4803279"/>
            <a:ext cx="10972526" cy="731441"/>
          </a:xfrm>
          <a:prstGeom prst="roundRect">
            <a:avLst>
              <a:gd name="adj" fmla="val 1563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3359" y="5006479"/>
            <a:ext cx="1109456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install Policyfile.rb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585" y="5959535"/>
            <a:ext cx="1158211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Commit the lock file with the declaration. Use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update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only when you intentionally want to refresh dependencies.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VALIDATE · STEP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5: Test before anything is shared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560513"/>
            <a:ext cx="10972526" cy="731441"/>
          </a:xfrm>
          <a:prstGeom prst="roundRect">
            <a:avLst>
              <a:gd name="adj" fmla="val 1563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1763713"/>
            <a:ext cx="1109456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kitchen test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2716768"/>
            <a:ext cx="1097252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Test Kitchen creates disposable test instances and verifies convergence. Configure its Chef provisioner to use your Policyfile.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4277320"/>
            <a:ext cx="342891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Resolve locally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4712454"/>
            <a:ext cx="34289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Fail fast on missing cookbooks and incompatible constraints.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95688" y="4277320"/>
            <a:ext cx="320032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Verify behavior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495688" y="4712454"/>
            <a:ext cx="320032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Exercise the locked policy on the target operating system.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53196" y="4277320"/>
            <a:ext cx="342891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Review the diff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53196" y="4712454"/>
            <a:ext cx="34289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Check cookbook versions, sources and lock changes in code review.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0743" y="4252714"/>
            <a:ext cx="12700" cy="103683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18252" y="4252714"/>
            <a:ext cx="12700" cy="103683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PUBLISH · STEP 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6: Push the policy to a policy group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470944"/>
            <a:ext cx="10972526" cy="731441"/>
          </a:xfrm>
          <a:prstGeom prst="roundRect">
            <a:avLst>
              <a:gd name="adj" fmla="val 1563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2674144"/>
            <a:ext cx="1109456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push dev Policyfile.lock.json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627676"/>
            <a:ext cx="11582110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Upload the locked policy and its cookbooks to Chef Infra Server.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4149130"/>
            <a:ext cx="10972526" cy="99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 policy group is a deployment stage, such as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dev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,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staging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or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production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The group associates a policy name with a particular revision.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Run the command from the policy directory using configured server credentials.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Pushing publishes a revision. Nodes consume it on their next successful Chef Infra Client run.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PROMOTE WITHOUT REBUILDING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Policy groups are your promotion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7178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Push the same lock file to each stage. Its revision ID stays identical.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55791" y="2317651"/>
            <a:ext cx="165096" cy="165100"/>
          </a:xfrm>
          <a:prstGeom prst="ellipse">
            <a:avLst/>
          </a:prstGeom>
          <a:solidFill>
            <a:srgbClr val="6FCFBF"/>
          </a:solidFill>
          <a:ln w="31749">
            <a:solidFill>
              <a:srgbClr val="6FCFBF">
                <a:alpha val="30000"/>
              </a:srgbClr>
            </a:solidFill>
            <a:prstDash val="solid"/>
          </a:ln>
          <a:effectLst>
            <a:outerShdw blurRad="176530" dist="127" dir="16200000" algn="bl" rotWithShape="0">
              <a:srgbClr val="6FCFBF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585" y="2564110"/>
            <a:ext cx="3657509" cy="12601"/>
          </a:xfrm>
          <a:prstGeom prst="rect">
            <a:avLst/>
          </a:prstGeom>
          <a:solidFill>
            <a:srgbClr val="3662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9585" y="2830016"/>
            <a:ext cx="365750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dev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265150"/>
            <a:ext cx="365750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Validate the candidate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585" y="3671411"/>
            <a:ext cx="365750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Same locked revision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13300" y="2317651"/>
            <a:ext cx="165096" cy="165100"/>
          </a:xfrm>
          <a:prstGeom prst="ellipse">
            <a:avLst/>
          </a:prstGeom>
          <a:solidFill>
            <a:srgbClr val="6FCFBF"/>
          </a:solidFill>
          <a:ln w="31749">
            <a:solidFill>
              <a:srgbClr val="6FCFBF">
                <a:alpha val="30000"/>
              </a:srgbClr>
            </a:solidFill>
            <a:prstDash val="solid"/>
          </a:ln>
          <a:effectLst>
            <a:outerShdw blurRad="176530" dist="127" dir="16200000" algn="bl" rotWithShape="0">
              <a:srgbClr val="6FCFBF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67093" y="2564110"/>
            <a:ext cx="3657509" cy="12601"/>
          </a:xfrm>
          <a:prstGeom prst="rect">
            <a:avLst/>
          </a:prstGeom>
          <a:solidFill>
            <a:srgbClr val="3662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67093" y="2830016"/>
            <a:ext cx="365750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staging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267093" y="3265150"/>
            <a:ext cx="365750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Verify integration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67093" y="3671411"/>
            <a:ext cx="365750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Same locked revision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70808" y="2317651"/>
            <a:ext cx="165096" cy="165100"/>
          </a:xfrm>
          <a:prstGeom prst="ellipse">
            <a:avLst/>
          </a:prstGeom>
          <a:solidFill>
            <a:srgbClr val="E8A657"/>
          </a:solidFill>
          <a:ln w="31749">
            <a:solidFill>
              <a:srgbClr val="E8A657">
                <a:alpha val="35000"/>
              </a:srgbClr>
            </a:solidFill>
            <a:prstDash val="solid"/>
          </a:ln>
          <a:effectLst>
            <a:outerShdw blurRad="176530" dist="127" dir="16200000" algn="bl" rotWithShape="0">
              <a:srgbClr val="E8A657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24602" y="2564110"/>
            <a:ext cx="3657509" cy="12601"/>
          </a:xfrm>
          <a:prstGeom prst="rect">
            <a:avLst/>
          </a:prstGeom>
          <a:solidFill>
            <a:srgbClr val="3662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24602" y="2830016"/>
            <a:ext cx="365750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production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924602" y="3265150"/>
            <a:ext cx="365750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Release approved 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24602" y="3671411"/>
            <a:ext cx="365750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Same locked revision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9585" y="4582021"/>
            <a:ext cx="10972526" cy="1056481"/>
          </a:xfrm>
          <a:prstGeom prst="roundRect">
            <a:avLst>
              <a:gd name="adj" fmla="val 1082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3359" y="4785221"/>
            <a:ext cx="1048497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push staging Policyfile.lock.json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push production Policyfile.lock.json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During promotion, different groups can reference different revisions of the same policy.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ENROLL · STEP 7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7: Bring nodes onto the policy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73809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New servers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2808942"/>
            <a:ext cx="548626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Bootstrap with the policy name and policy group.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320058"/>
            <a:ext cx="5257668" cy="1381522"/>
          </a:xfrm>
          <a:prstGeom prst="roundRect">
            <a:avLst>
              <a:gd name="adj" fmla="val 827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3359" y="3523258"/>
            <a:ext cx="477012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bootstrap HOST \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--policy-name web-frontend \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--policy-group dev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2" y="2373809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Existing servers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24442" y="2796877"/>
            <a:ext cx="5257668" cy="10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Set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policy_name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and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policy_group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in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client.rb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through a controlled migration.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Validate one node before expanding the migration.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585" y="5959535"/>
            <a:ext cx="1158211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At each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chef-client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run, the node fetches the locked policy assigned to that name and group.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89498" y="2349202"/>
            <a:ext cx="12700" cy="2580977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NODE CONFIGURATION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The client settings that matter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560513"/>
            <a:ext cx="10972526" cy="1706563"/>
          </a:xfrm>
          <a:prstGeom prst="roundRect">
            <a:avLst>
              <a:gd name="adj" fmla="val 670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1763713"/>
            <a:ext cx="10484977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client.rb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use_policyfile true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policy_name 'web-frontend'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policy_group 'dev'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495675"/>
          <a:ext cx="10972526" cy="914400"/>
        </p:xfrm>
        <a:graphic>
          <a:graphicData uri="http://schemas.openxmlformats.org/drawingml/2006/table">
            <a:tbl>
              <a:tblPr/>
              <a:tblGrid>
                <a:gridCol w="351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Setting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Meaning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use_policyfile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Explicitly enables Policyfile mode where required by your client version.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policy_name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The server class this node implements.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policy_group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The deployment stage this node belongs to.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5577443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Bake these into your provisioning template so new servers join automatically.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CONTROLLED CHANGE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Rolling out a change safely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7178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Change only the cookbooks that need it. Review the lock diff, then promote group by group.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13843"/>
            <a:ext cx="10794730" cy="41605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30238"/>
            <a:ext cx="751821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TEAM WORKFLOW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673483" y="890354"/>
            <a:ext cx="6908627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Enterprise practices that scale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673483" y="2402086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Separate ownership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673483" y="2837220"/>
            <a:ext cx="322571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One directory per policy; shared base cookbooks in their own repositories.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56391" y="2402086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Automate checks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56391" y="2837220"/>
            <a:ext cx="3225719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CI runs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install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and tests on every pull request.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73483" y="4190702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Protect production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673483" y="4625836"/>
            <a:ext cx="322571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Restrict who can push to production policy groups.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56391" y="4190702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Control supply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356391" y="4625836"/>
            <a:ext cx="322571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an internal cookbook source for supply-chain control.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21447" y="2377480"/>
            <a:ext cx="12700" cy="156001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3483" y="3931146"/>
            <a:ext cx="3454314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21447" y="3937496"/>
            <a:ext cx="12700" cy="126543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27797" y="3931146"/>
            <a:ext cx="3454314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AVOID PREVENTABLE FAILURES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Common pitfalls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542976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The lock file never gets committed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2978110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Commit declaration and lock together so reviewers and CI see the same release.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24442" y="2542976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An update replaces an install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24442" y="2978110"/>
            <a:ext cx="5257668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install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reuses the lock.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update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intentionally refreshes dependencies.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4043362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Roles and policies get mixed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4478496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Do not combine role-driven configuration and Policyfiles on the same node. Migrate deliberately.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24442" y="4043362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The requested name does not match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24442" y="4478496"/>
            <a:ext cx="5257668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Match the policy's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name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to the node's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policy_name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, and verify its group.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9498" y="2518370"/>
            <a:ext cx="12700" cy="127178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9585" y="3783806"/>
            <a:ext cx="5486263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9498" y="3790156"/>
            <a:ext cx="12700" cy="127178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95848" y="3783806"/>
            <a:ext cx="5486263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751821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FIRST 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6908627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Your checklist for the first new server class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209899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1374" y="2205831"/>
            <a:ext cx="647683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Name the class and list its cookbooks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3052465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374" y="3048397"/>
            <a:ext cx="647683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Generate and edit Policyfile.rb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895130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1374" y="3891062"/>
            <a:ext cx="6476838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Run </a:t>
            </a:r>
            <a:r>
              <a:rPr lang="en-US" sz="19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install</a:t>
            </a: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and test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9585" y="4744145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1374" y="4740076"/>
            <a:ext cx="647683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Push to dev, then promote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585" y="5586809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1374" y="5582741"/>
            <a:ext cx="647683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Bootstrap one node as a pilot</a:t>
            </a:r>
            <a:endParaRPr lang="en-US" sz="1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09585" y="2865041"/>
            <a:ext cx="6908627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9585" y="3707705"/>
            <a:ext cx="6908627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9585" y="4556720"/>
            <a:ext cx="6908627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9585" y="5399385"/>
            <a:ext cx="6908627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Lorenzo McGhie</cp:lastModifiedBy>
  <cp:revision>2</cp:revision>
  <dcterms:created xsi:type="dcterms:W3CDTF">2026-10-23T04:30:32Z</dcterms:created>
  <dcterms:modified xsi:type="dcterms:W3CDTF">2026-10-23T04:31:15Z</dcterms:modified>
</cp:coreProperties>
</file>