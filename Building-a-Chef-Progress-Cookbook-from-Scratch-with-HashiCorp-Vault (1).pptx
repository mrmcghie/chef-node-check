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Roboto" panose="02000000000000000000" pitchFamily="2" charset="0"/>
      <p:regular r:id="rId17"/>
    </p:embeddedFont>
    <p:embeddedFont>
      <p:font typeface="Roboto Bold" panose="02000000000000000000" pitchFamily="2" charset="0"/>
      <p:regular r:id="rId18"/>
    </p:embeddedFont>
    <p:embeddedFont>
      <p:font typeface="Roboto Slab" pitchFamily="2" charset="0"/>
      <p:regular r:id="rId19"/>
    </p:embeddedFont>
    <p:embeddedFont>
      <p:font typeface="Roboto Slab Bold" pitchFamily="2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2.fntdata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1.fntdata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font" Target="fonts/font4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font" Target="fonts/font3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F8CEDB-1C00-8441-B2D7-509AE45601B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1316F-5F20-4D4E-BB30-CC1461BBF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77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7" Type="http://schemas.openxmlformats.org/officeDocument/2006/relationships/image" Target="../media/image6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jpeg" /><Relationship Id="rId5" Type="http://schemas.openxmlformats.org/officeDocument/2006/relationships/image" Target="../media/image4.png" /><Relationship Id="rId4" Type="http://schemas.openxmlformats.org/officeDocument/2006/relationships/image" Target="../media/image3.jpe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3.png" /><Relationship Id="rId5" Type="http://schemas.openxmlformats.org/officeDocument/2006/relationships/image" Target="../media/image12.png" /><Relationship Id="rId4" Type="http://schemas.openxmlformats.org/officeDocument/2006/relationships/image" Target="../media/image11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6.sv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43762"/>
            <a:ext cx="6296860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Building a Chef Progress Cookbook from Scratch with HashiCorp Vault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712468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A comprehensive, hands-on guide to automating secure infrastructure with Chef Infra and HashiCorp Vault — from bootstrapping your first cookbook to managing secrets in production pipelines.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4692352"/>
            <a:ext cx="2331384" cy="251420"/>
          </a:xfrm>
          <a:prstGeom prst="roundRect">
            <a:avLst>
              <a:gd name="adj" fmla="val 7894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60691" y="4743409"/>
            <a:ext cx="274253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DEVOPS · SECURITY · AUTOMATION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7266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1284883"/>
            <a:ext cx="1086874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This guide walks you through everything you need to build a production-ready Chef cookbook integrated with HashiCorp Vault — from foundational concepts to real-world deployment patterns. Here's what we'll cover: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982093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01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1475" y="2239764"/>
            <a:ext cx="5354206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2359223"/>
            <a:ext cx="535420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Foundations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2709664"/>
            <a:ext cx="535420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Understanding Chef Infra, cookbooks, and HashiCorp Vault — what they are and why they matter for secure infrastructure automation.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75915" y="1982093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02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5915" y="2239764"/>
            <a:ext cx="5354305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75915" y="2359223"/>
            <a:ext cx="535430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Environment Setup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5915" y="2709664"/>
            <a:ext cx="535430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Installing Chef Workstation, Vault CLI, and all prerequisites. Bootstrapping your cookbook structure using </a:t>
            </a:r>
            <a:r>
              <a:rPr lang="en-US" sz="12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 generate cookbook</a:t>
            </a: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1475" y="3508871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03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1475" y="3750270"/>
            <a:ext cx="5354206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1475" y="3886002"/>
            <a:ext cx="535420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Vault Configuration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1475" y="4236442"/>
            <a:ext cx="535420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Initializing and unsealing Vault, enabling the KV secrets engine, and configuring AppRole authentication for Chef nodes.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75915" y="3508871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04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5915" y="3750270"/>
            <a:ext cx="5354305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75915" y="3886002"/>
            <a:ext cx="535430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Integration &amp; Recipes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5915" y="4236442"/>
            <a:ext cx="535430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Writing recipes that securely fetch secrets at runtime, managing sensitive attributes, and avoiding secret exposure in cookbooks.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1475" y="5035649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05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1475" y="5260777"/>
            <a:ext cx="5354206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1475" y="5412780"/>
            <a:ext cx="535420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Testing &amp; Promotion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1475" y="5763220"/>
            <a:ext cx="535420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Running Test Kitchen locally with mocked Vault responses, then promoting through dev, staging, and production pipelines safely.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75915" y="5035649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06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75915" y="5260777"/>
            <a:ext cx="5354305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75915" y="5412780"/>
            <a:ext cx="535430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Production Patterns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75915" y="5763220"/>
            <a:ext cx="535430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Real-world pitfalls: token renewal, secret rotation, debugging auth failures, and key takeaways for long-term operational success.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048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What Is Chef Infra?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12664"/>
            <a:ext cx="10868745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Chef Infra is a powerful infrastructure automation platform that transforms infrastructure into code — allowing teams to define, test, and enforce the desired state of their systems consistently and repeatedly at scale.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6086" y="1991816"/>
            <a:ext cx="5469694" cy="4364434"/>
          </a:xfrm>
          <a:prstGeom prst="roundRect">
            <a:avLst>
              <a:gd name="adj" fmla="val 551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6221" y="2160606"/>
            <a:ext cx="5149424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The Cookbook Model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06221" y="2552502"/>
            <a:ext cx="5149424" cy="2158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spcAft>
                <a:spcPts val="105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At the heart of Chef is the </a:t>
            </a:r>
            <a:r>
              <a:rPr lang="en-US" sz="12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0"/>
              </a:rPr>
              <a:t>cookbook</a:t>
            </a: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— a self-contained unit of automation that defines how a system should be configured. Cookbooks contain recipes (Ruby-based instructions), attributes (configurable defaults), templates, files, and resources. Think of a cookbook as a versioned, testable blueprint for a server's desired state.</a:t>
            </a:r>
            <a:endParaRPr lang="en-US" sz="12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Chef's declarative model means you describe </a:t>
            </a:r>
            <a:r>
              <a:rPr lang="en-US" sz="125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what</a:t>
            </a: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you want — not </a:t>
            </a:r>
            <a:r>
              <a:rPr lang="en-US" sz="125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how</a:t>
            </a: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to get there — and the Chef client figures out the execution order and idempotency automatically.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97653" y="2160606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Why Use Cookbooks for Infrastructure Automation?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297653" y="2552502"/>
            <a:ext cx="5238917" cy="3749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31000"/>
              </a:lnSpc>
              <a:buSzPct val="100000"/>
              <a:buChar char="•"/>
            </a:pPr>
            <a:r>
              <a:rPr lang="en-US" sz="12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0"/>
              </a:rPr>
              <a:t>Idempotency</a:t>
            </a: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: Chef only makes changes when the current state diverges from the desired state, preventing configuration drift across your fleet.</a:t>
            </a:r>
            <a:endParaRPr lang="en-US" sz="1250" dirty="0"/>
          </a:p>
          <a:p>
            <a:pPr marL="254000" indent="-254000" algn="l">
              <a:lnSpc>
                <a:spcPct val="131000"/>
              </a:lnSpc>
              <a:buSzPct val="100000"/>
              <a:buChar char="•"/>
            </a:pPr>
            <a:r>
              <a:rPr lang="en-US" sz="12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0"/>
              </a:rPr>
              <a:t>Version Control</a:t>
            </a: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: Cookbooks live in source control (Git), giving you full audit history, rollback capabilities, and peer-reviewed infrastructure changes.</a:t>
            </a:r>
            <a:endParaRPr lang="en-US" sz="1250" dirty="0"/>
          </a:p>
          <a:p>
            <a:pPr marL="254000" indent="-254000" algn="l">
              <a:lnSpc>
                <a:spcPct val="131000"/>
              </a:lnSpc>
              <a:buSzPct val="100000"/>
              <a:buChar char="•"/>
            </a:pPr>
            <a:r>
              <a:rPr lang="en-US" sz="12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0"/>
              </a:rPr>
              <a:t>Reusability</a:t>
            </a: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: Wrap common patterns (install Nginx, configure firewall, deploy app) into reusable cookbooks shared across teams via the Chef Supermarket.</a:t>
            </a:r>
            <a:endParaRPr lang="en-US" sz="1250" dirty="0"/>
          </a:p>
          <a:p>
            <a:pPr marL="254000" indent="-254000" algn="l">
              <a:lnSpc>
                <a:spcPct val="131000"/>
              </a:lnSpc>
              <a:buSzPct val="100000"/>
              <a:buChar char="•"/>
            </a:pPr>
            <a:r>
              <a:rPr lang="en-US" sz="12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0"/>
              </a:rPr>
              <a:t>Scale</a:t>
            </a: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: The Chef server acts as a central hub, converging hundreds or thousands of nodes in parallel with consistent policy enforcement.</a:t>
            </a:r>
            <a:endParaRPr lang="en-US" sz="1250" dirty="0"/>
          </a:p>
          <a:p>
            <a:pPr marL="254000" indent="-254000" algn="l">
              <a:lnSpc>
                <a:spcPct val="131000"/>
              </a:lnSpc>
              <a:buSzPct val="100000"/>
              <a:buChar char="•"/>
            </a:pPr>
            <a:r>
              <a:rPr lang="en-US" sz="12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0"/>
              </a:rPr>
              <a:t>Test-Driven</a:t>
            </a: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: Tools like Test Kitchen, ChefSpec, and InSpec integrate natively into the cookbook workflow, enabling true TDD for infrastructure.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52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What Is HashiCorp Vault?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82415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HashiCorp Vault is an identity-based secrets management platform designed to centralize, secure, and tightly control access to sensitive data — tokens, passwords, certificates, API keys, and encryption keys — across dynamic cloud-native environments.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97683"/>
            <a:ext cx="1127295" cy="696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001070"/>
            <a:ext cx="256216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Secrets Storage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3358753"/>
            <a:ext cx="2562161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Vault stores secrets in encrypted backends (KV, databases, PKI, SSH). All data is encrypted at rest using AES-256-GCM. Secrets are never stored in plaintext — even administrators cannot retrieve raw values without auditable access.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303" y="2097683"/>
            <a:ext cx="1127295" cy="6967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0303" y="3001070"/>
            <a:ext cx="256216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Dynamic Secrets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430303" y="3358753"/>
            <a:ext cx="2562161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Vault can generate short-lived, just-in-time credentials for databases, cloud providers, and more. A credential exists only as long as its lease — reducing the blast radius of any single compromised secret dramatically.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132" y="2097683"/>
            <a:ext cx="1127295" cy="6967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99132" y="3001070"/>
            <a:ext cx="256216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Audit &amp; Compliance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199132" y="3358753"/>
            <a:ext cx="2562161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Every interaction with Vault — reads, writes, authentication attempts — is logged to a tamper-evident audit log. This provides a complete, auditable trail of who accessed what secret, when, and from which IP address.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7960" y="2097683"/>
            <a:ext cx="1127394" cy="6967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67960" y="3001070"/>
            <a:ext cx="25622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Fine-Grained Policies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8967960" y="3358753"/>
            <a:ext cx="2562260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Vault uses HCL-based policies to define exactly which paths a given identity can read, write, list, or delete. Policies are attached to auth method roles — giving you least-privilege access control by default.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61475" y="5397103"/>
            <a:ext cx="10868745" cy="925909"/>
          </a:xfrm>
          <a:prstGeom prst="roundRect">
            <a:avLst>
              <a:gd name="adj" fmla="val 2679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769" y="5636816"/>
            <a:ext cx="206667" cy="16529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98731" y="5603677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Vault supports dozens of auth methods (AppRole, AWS IAM, Kubernetes, LDAP, GitHub) and secrets engines (KV, PKI, Transit, Database) — making it the Swiss Army knife of secrets management in any environment.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716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Why Chef + Vault Is a Game-Changer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55055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Combining Chef's infrastructure-as-code muscle with Vault's secrets management creates a secure, auditable, and fully automated DevOps workflow — eliminating the most common source of security incidents: hardcoded credentials in configuration files and cookbooks.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45038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The Problem Without Vault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2859385"/>
            <a:ext cx="5232666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Traditional Chef workflows often rely on Chef Encrypted Data Bags or node attributes to store secrets. While encrypted data bags improve on plaintext, they have serious limitations: the encryption key itself must be distributed and secured out-of-band, rotation is painful and error-prone, and there's no fine-grained per-secret access control or audit trail. Secrets frequently end up committed to Git repos — sometimes publicly.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860528"/>
            <a:ext cx="523266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Shared encryption keys create a single point of failure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No native secret rotation or lease management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No per-node, per-secret audit logging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Data bags require Chef Server access for retrieval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84844" y="2270323"/>
            <a:ext cx="5470785" cy="3880048"/>
          </a:xfrm>
          <a:prstGeom prst="roundRect">
            <a:avLst>
              <a:gd name="adj" fmla="val 639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50139" y="2450389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The Solution With Vault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0139" y="2859385"/>
            <a:ext cx="5140196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When Chef nodes authenticate to Vault at converge time, secrets are fetched dynamically — never stored on disk, in data bags, or in source control. Each node gets a scoped token with a TTL, logs its access, and can be revoked instantly. Secret rotation becomes a Vault operation, not a Chef cookbook deployment.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0139" y="4331295"/>
            <a:ext cx="514019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Secrets fetched at runtime — never written to disk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Per-node AppRole credentials with short-lived tokens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Full audit trail across every Chef converge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Seamless secret rotation without cookbook changes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Works with Chef Server, Chef Solo, and Policyfiles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1762"/>
            <a:ext cx="10868745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Prerequisites: Setting Up Your Environment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61475" y="1064518"/>
            <a:ext cx="10868745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Before writing a single line of Ruby, you need a properly configured local environment. Here's everything required to follow along with this guide — tested on macOS, Ubuntu 22.04, and WSL2 on Windows.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46126"/>
            <a:ext cx="5383872" cy="16734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56476" y="1637804"/>
            <a:ext cx="19376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9704" y="2053630"/>
            <a:ext cx="5087413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Chef Workstation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09704" y="2316063"/>
            <a:ext cx="5087413" cy="571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Download and install Chef Workstation from </a:t>
            </a:r>
            <a:r>
              <a:rPr lang="en-US" sz="10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downloads.chef.io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. This bundles the </a:t>
            </a:r>
            <a:r>
              <a:rPr lang="en-US" sz="10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CLI, </a:t>
            </a:r>
            <a:r>
              <a:rPr lang="en-US" sz="10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knife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, </a:t>
            </a:r>
            <a:r>
              <a:rPr lang="en-US" sz="10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cookstyle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, </a:t>
            </a:r>
            <a:r>
              <a:rPr lang="en-US" sz="10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foodcritic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, Test Kitchen, ChefSpec, and InSpec — everything you need in one package. Verify with </a:t>
            </a:r>
            <a:r>
              <a:rPr lang="en-US" sz="10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 --version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. Minimum: Chef Workstation 21.x.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249" y="1546126"/>
            <a:ext cx="5383971" cy="16734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41350" y="1637804"/>
            <a:ext cx="19376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2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294478" y="2053630"/>
            <a:ext cx="5087513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HashiCorp Vault CLI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294478" y="2316063"/>
            <a:ext cx="5087513" cy="755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Install Vault CLI via your package manager: </a:t>
            </a:r>
            <a:r>
              <a:rPr lang="en-US" sz="10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brew install vault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on macOS, or download the binary from </a:t>
            </a:r>
            <a:r>
              <a:rPr lang="en-US" sz="10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releases.hashicorp.com/vault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. For local development, run Vault in dev mode: </a:t>
            </a:r>
            <a:r>
              <a:rPr lang="en-US" sz="10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vault server -dev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. This starts an in-memory Vault with a root token — perfect for testing. Minimum: Vault 1.12+.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320455"/>
            <a:ext cx="5383872" cy="16734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56476" y="3412133"/>
            <a:ext cx="19376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3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09704" y="3827959"/>
            <a:ext cx="5087413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Docker (Optional but Recommended)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09704" y="4090392"/>
            <a:ext cx="5087413" cy="736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Test Kitchen uses Docker as its default driver for spinning up test instances locally. Install Docker Desktop (macOS/Windows) or Docker Engine (Linux). Test Kitchen will pull a Chef Infra Client image automatically on first run. This avoids the need for Vagrant and VirtualBox.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249" y="3320455"/>
            <a:ext cx="5383971" cy="167342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41350" y="3412133"/>
            <a:ext cx="19376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4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294478" y="3827959"/>
            <a:ext cx="5087513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Ruby &amp; Bundler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294478" y="4090392"/>
            <a:ext cx="5087513" cy="755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Chef Workstation ships with an embedded Ruby, but your cookbook's </a:t>
            </a:r>
            <a:r>
              <a:rPr lang="en-US" sz="10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Gemfile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will need Bundler to manage dependencies like the </a:t>
            </a:r>
            <a:r>
              <a:rPr lang="en-US" sz="10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vault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gem. Use the embedded Ruby: </a:t>
            </a:r>
            <a:r>
              <a:rPr lang="en-US" sz="10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/opt/chef-workstation/embedded/bin/gem install bundler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, or use rbenv/rvm to manage a system Ruby (2.7+ required).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61475" y="5107384"/>
            <a:ext cx="10868745" cy="1291729"/>
          </a:xfrm>
          <a:prstGeom prst="roundRect">
            <a:avLst>
              <a:gd name="adj" fmla="val 1500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816451" y="5236567"/>
            <a:ext cx="10558794" cy="1033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## Quick environment check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chef --version # Chef Workstation 23.x.x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vault version # Vault v1.15.x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docker --version # Docker 24.x.x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ruby --version # ruby 3.1.x (embedded in Chef WS)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9431"/>
            <a:ext cx="10868745" cy="42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Bootstrapping Your Cookbook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1227832"/>
            <a:ext cx="10868745" cy="406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The </a:t>
            </a: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 generate cookbook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command scaffolds a complete, opinionated cookbook directory structure with sensible defaults — saving you from manually creating boilerplate files and letting you focus on writing automation logic immediately.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2854" y="1762224"/>
            <a:ext cx="5464534" cy="3704332"/>
          </a:xfrm>
          <a:prstGeom prst="roundRect">
            <a:avLst>
              <a:gd name="adj" fmla="val 555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9772" y="1888803"/>
            <a:ext cx="5190697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Generating the Scaffold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9772" y="2217241"/>
            <a:ext cx="5190697" cy="931069"/>
          </a:xfrm>
          <a:prstGeom prst="roundRect">
            <a:avLst>
              <a:gd name="adj" fmla="val 2207"/>
            </a:avLst>
          </a:prstGeom>
          <a:solidFill>
            <a:srgbClr val="3F64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4074" y="2354163"/>
            <a:ext cx="4862093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chef generate cookbook my_vault_cookbook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cd my_vault_cookbook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tree 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99772" y="3275905"/>
            <a:ext cx="5190697" cy="1128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This creates a complete cookbook skeleton. The generator supports additional flags: </a:t>
            </a:r>
            <a:r>
              <a:rPr lang="en-US" sz="10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--copyright</a:t>
            </a: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, </a:t>
            </a:r>
            <a:r>
              <a:rPr lang="en-US" sz="10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--email</a:t>
            </a: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, </a:t>
            </a:r>
            <a:r>
              <a:rPr lang="en-US" sz="10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--license</a:t>
            </a: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, and </a:t>
            </a:r>
            <a:r>
              <a:rPr lang="en-US" sz="10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--pipeline</a:t>
            </a: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(for GitHub Actions, GitLab CI, or Jenkins). Run </a:t>
            </a:r>
            <a:r>
              <a:rPr lang="en-US" sz="10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 generate cookbook --help</a:t>
            </a: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for the full option list.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Add your Vault gem dependency immediately by editing the </a:t>
            </a:r>
            <a:r>
              <a:rPr lang="en-US" sz="10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Gemfile</a:t>
            </a: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and </a:t>
            </a:r>
            <a:r>
              <a:rPr lang="en-US" sz="10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metadata.rb</a:t>
            </a: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before writing any recipes.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69278" y="1888803"/>
            <a:ext cx="526729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Understanding the Directory Structure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9278" y="2203053"/>
            <a:ext cx="5267292" cy="322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metadata.rb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— Cookbook name, version, author, dependencies on other cookbooks from Supermarket</a:t>
            </a:r>
            <a:endParaRPr lang="en-US" sz="1050" dirty="0"/>
          </a:p>
          <a:p>
            <a:pPr marL="213360" indent="-213360" algn="l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recipes/default.rb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— Your primary recipe; the entry point when the cookbook is applied to a node</a:t>
            </a:r>
            <a:endParaRPr lang="en-US" sz="1050" dirty="0"/>
          </a:p>
          <a:p>
            <a:pPr marL="213360" indent="-213360" algn="l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attributes/default.rb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— Default attribute values; never put secrets here</a:t>
            </a:r>
            <a:endParaRPr lang="en-US" sz="1050" dirty="0"/>
          </a:p>
          <a:p>
            <a:pPr marL="213360" indent="-213360" algn="l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libraries/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— Reusable Ruby modules and custom resource helpers; ideal for Vault API wrappers</a:t>
            </a:r>
            <a:endParaRPr lang="en-US" sz="1050" dirty="0"/>
          </a:p>
          <a:p>
            <a:pPr marL="213360" indent="-213360" algn="l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templates/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— ERB templates for config files that will be populated with secrets at converge time</a:t>
            </a:r>
            <a:endParaRPr lang="en-US" sz="1050" dirty="0"/>
          </a:p>
          <a:p>
            <a:pPr marL="213360" indent="-213360" algn="l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files/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— Static files deployed to nodes</a:t>
            </a:r>
            <a:endParaRPr lang="en-US" sz="1050" dirty="0"/>
          </a:p>
          <a:p>
            <a:pPr marL="213360" indent="-213360" algn="l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test/integration/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— InSpec profiles for verifying the converged system state</a:t>
            </a:r>
            <a:endParaRPr lang="en-US" sz="1050" dirty="0"/>
          </a:p>
          <a:p>
            <a:pPr marL="213360" indent="-213360" algn="l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spec/unit/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— ChefSpec unit tests for recipes and resources</a:t>
            </a:r>
            <a:endParaRPr lang="en-US" sz="1050" dirty="0"/>
          </a:p>
          <a:p>
            <a:pPr marL="213360" indent="-213360" algn="l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kitchen.yml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— Test Kitchen configuration: driver, provisioner, platforms, and suites</a:t>
            </a:r>
            <a:endParaRPr lang="en-US" sz="1050" dirty="0"/>
          </a:p>
          <a:p>
            <a:pPr marL="213360" indent="-213360" algn="l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Policyfile.rb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— Optional Policyfile for pinning cookbook versions and run lists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1475" y="5594152"/>
            <a:ext cx="10868745" cy="690662"/>
          </a:xfrm>
          <a:prstGeom prst="roundRect">
            <a:avLst>
              <a:gd name="adj" fmla="val 2975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93" y="5755283"/>
            <a:ext cx="171148" cy="13692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06460" y="5741789"/>
            <a:ext cx="10286842" cy="406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Best practice: immediately initialize a Git repository inside the generated cookbook directory with </a:t>
            </a:r>
            <a:r>
              <a:rPr lang="en-US" sz="1050" dirty="0">
                <a:solidFill>
                  <a:srgbClr val="000000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git init &amp;&amp; git add . &amp;&amp; git commit -m "Initial scaffold"</a:t>
            </a: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. Every change to your cookbook should be tracked from day one.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59840" y="295952"/>
            <a:ext cx="5872016" cy="279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Configuring Vault: Init, Unseal, and KV Engine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3159840" y="737989"/>
            <a:ext cx="5872016" cy="285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Before Chef can fetch secrets from Vault, Vault itself needs to be properly initialized, unsealed, and configured with a secrets engine. Here's a complete walkthrough — from a fresh Vault binary to a working KV store ready for Chef integration.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840" y="1124446"/>
            <a:ext cx="5872016" cy="26423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44278" y="1234279"/>
            <a:ext cx="1027719" cy="158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Initialize Vault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044278" y="1438065"/>
            <a:ext cx="1027719" cy="253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Generate unseal keys and root token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060567" y="3216125"/>
            <a:ext cx="1033271" cy="15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Unseal Vault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60567" y="3419911"/>
            <a:ext cx="1033271" cy="253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Provide unseal key shards to unseal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065589" y="1135162"/>
            <a:ext cx="1027719" cy="317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Enable KV Engine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65589" y="1497665"/>
            <a:ext cx="1027719" cy="253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Enable kv-v2 at path 'secret'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081879" y="3216125"/>
            <a:ext cx="1027719" cy="15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Write Secrets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081879" y="3419911"/>
            <a:ext cx="1027719" cy="253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Store app secret via vault kv put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159840" y="3867348"/>
            <a:ext cx="5872016" cy="285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The Shamir secret sharing scheme splits the master key into N shards — you must provide a threshold (typically 3 of 5) to unseal. In production, distribute shards to different trusted operators or use Vault's auto-unseal with AWS KMS, GCP CKMS, or Azure Key Vault.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159840" y="4351081"/>
            <a:ext cx="2827068" cy="139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Initialize &amp; Unseal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159840" y="4583212"/>
            <a:ext cx="2827068" cy="1894284"/>
          </a:xfrm>
          <a:prstGeom prst="roundRect">
            <a:avLst>
              <a:gd name="adj" fmla="val 708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266993" y="4672509"/>
            <a:ext cx="2612761" cy="171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## Initialize (first time only)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vault operator init \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-key-shares=5 \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-key-threshold=3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## Unseal with 3 of 5 key shards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vault operator unseal &lt;key-shard-1&gt;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vault operator unseal &lt;key-shard-2&gt;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vault operator unseal &lt;key-shard-3&gt;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## Authenticate with root token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vault login &lt;root-token&gt;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208160" y="4351081"/>
            <a:ext cx="2827068" cy="139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Enable KV v2 &amp; Write Secrets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208160" y="4583212"/>
            <a:ext cx="2827068" cy="1894284"/>
          </a:xfrm>
          <a:prstGeom prst="roundRect">
            <a:avLst>
              <a:gd name="adj" fmla="val 708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315314" y="4672509"/>
            <a:ext cx="2612761" cy="171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## Enable KV version 2 at path "secret/"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vault secrets enable \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-path=secret kv-v2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## Write a secret for your app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vault kv put secret/myapp/database \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username="db_user" \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password="S3cr3tP@ss!" \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host="db.internal.example.com"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## Verify it was written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vault kv get secret/myapp/database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299"/>
            <a:ext cx="10868745" cy="306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Authenticating Chef to Vault with AppRole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932409"/>
            <a:ext cx="10868745" cy="250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AppRole is Vault's machine-to-machine authentication method — purpose-built for automated workflows like Chef converge runs where there's no human present to provide credentials. Each Chef node gets a unique </a:t>
            </a:r>
            <a:r>
              <a:rPr lang="en-US" sz="7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0"/>
              </a:rPr>
              <a:t>Role ID</a:t>
            </a: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(like a username) and </a:t>
            </a:r>
            <a:r>
              <a:rPr lang="en-US" sz="7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0"/>
              </a:rPr>
              <a:t>Secret ID</a:t>
            </a: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(like a password) that together produce a short-lived Vault token scoped to only the secrets that node needs.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47973"/>
            <a:ext cx="5434373" cy="3928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9600" y="1699022"/>
            <a:ext cx="5238123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Enable AppRole Auth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59600" y="1887339"/>
            <a:ext cx="5238123" cy="250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Enable the AppRole auth method on Vault and create a named role tied to a policy. The role defines token TTL, max uses, and which policy governs access.</a:t>
            </a:r>
            <a:endParaRPr lang="en-US" sz="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1247973"/>
            <a:ext cx="5434373" cy="3928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3972" y="1699022"/>
            <a:ext cx="5238123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Create Vault Policy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193972" y="1887339"/>
            <a:ext cx="5238123" cy="250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Write a least-privilege HCL policy granting the Chef role read-only access to exactly the secret paths it needs — nothing more. Attach the policy to the AppRole role.</a:t>
            </a:r>
            <a:endParaRPr lang="en-US" sz="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2235895"/>
            <a:ext cx="5434373" cy="3928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9600" y="2686943"/>
            <a:ext cx="5238123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Distribute Credentials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759600" y="2875260"/>
            <a:ext cx="5238123" cy="250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Retrieve the Role ID (static, safe to store) and generate a Secret ID (one-time use or short-lived). Deliver these to Chef nodes via a secure bootstrap mechanism.</a:t>
            </a:r>
            <a:endParaRPr lang="en-US" sz="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2235895"/>
            <a:ext cx="5434373" cy="39280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93972" y="2686943"/>
            <a:ext cx="5238123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Exchange for Token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6193972" y="2875260"/>
            <a:ext cx="5238123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At converge time, Chef presents Role ID + Secret ID to Vault's </a:t>
            </a:r>
            <a:r>
              <a:rPr lang="en-US" sz="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/auth/approle/login</a:t>
            </a: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endpoint and receives a scoped, time-limited token used to read secrets.</a:t>
            </a:r>
            <a:endParaRPr lang="en-US" sz="750" dirty="0"/>
          </a:p>
        </p:txBody>
      </p:sp>
      <p:sp>
        <p:nvSpPr>
          <p:cNvPr id="16" name="Shape 10"/>
          <p:cNvSpPr/>
          <p:nvPr/>
        </p:nvSpPr>
        <p:spPr>
          <a:xfrm>
            <a:off x="590734" y="3295749"/>
            <a:ext cx="5456101" cy="3053655"/>
          </a:xfrm>
          <a:prstGeom prst="roundRect">
            <a:avLst>
              <a:gd name="adj" fmla="val 482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688859" y="3363255"/>
            <a:ext cx="5259851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Vault CLI: AppRole Setup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688859" y="3572966"/>
            <a:ext cx="5259851" cy="2710855"/>
          </a:xfrm>
          <a:prstGeom prst="roundRect">
            <a:avLst>
              <a:gd name="adj" fmla="val 543"/>
            </a:avLst>
          </a:prstGeom>
          <a:solidFill>
            <a:srgbClr val="3F64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806628" y="3671094"/>
            <a:ext cx="50243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## Enable AppRole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vault auth enable approle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## Write policy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vault policy write chef-policy - &lt;&lt;EOF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path "secret/data/myapp/*" {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capabilities = ["read", "list"]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}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EOF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## Create AppRole role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vault write auth/approle/role/chef-node \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token_policies="chef-policy" \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token_ttl=1h \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token_max_ttl=4h \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secret_id_num_uses=1</a:t>
            </a:r>
            <a:endParaRPr lang="en-US" sz="750" dirty="0"/>
          </a:p>
        </p:txBody>
      </p:sp>
      <p:sp>
        <p:nvSpPr>
          <p:cNvPr id="20" name="Text 14"/>
          <p:cNvSpPr/>
          <p:nvPr/>
        </p:nvSpPr>
        <p:spPr>
          <a:xfrm>
            <a:off x="6221951" y="3363255"/>
            <a:ext cx="5314619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Fetch Role ID &amp; Secret ID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221951" y="3572966"/>
            <a:ext cx="5314619" cy="2239367"/>
          </a:xfrm>
          <a:prstGeom prst="roundRect">
            <a:avLst>
              <a:gd name="adj" fmla="val 658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6339721" y="3671094"/>
            <a:ext cx="5079079" cy="2043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## Get Role ID (static — safe to store)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vault read auth/approle/role/chef-node/role-id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 role_id: xxxxxxxx-xxxx-xxxx-xxxx-xxxxxxxxxxxx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## Generate Secret ID (one-time use)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vault write -f \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auth/approle/role/chef-node/secret-id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 secret_id: yyyyyyyy-yyyy-yyyy-yyyy-yyyyyyyyyyyy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## Login to get token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vault write auth/approle/login \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role_id="&lt;role-id&gt;" \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secret_id="&lt;secret-id&gt;"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9899"/>
            <a:ext cx="10868745" cy="274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Writing Your First Recipe: Fetching Secrets from Vault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61475" y="865464"/>
            <a:ext cx="10868745" cy="21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With Vault configured and AppRole set up, you can now write Chef recipes that securely retrieve secrets at converge time. There are two primary approaches: using the </a:t>
            </a:r>
            <a:r>
              <a:rPr lang="en-US" sz="6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vault</a:t>
            </a: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Ruby gem directly via a library helper, or making HTTP calls to the Vault API. Both patterns are shown below.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1182000"/>
            <a:ext cx="5327219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Approach 1: Using the Vault Ruby Gem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1475" y="1363741"/>
            <a:ext cx="5327219" cy="21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Add the </a:t>
            </a:r>
            <a:r>
              <a:rPr lang="en-US" sz="6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vault</a:t>
            </a: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gem to your cookbook's </a:t>
            </a:r>
            <a:r>
              <a:rPr lang="en-US" sz="6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Gemfile</a:t>
            </a: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and create a library helper in </a:t>
            </a:r>
            <a:r>
              <a:rPr lang="en-US" sz="6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libraries/vault_helper.rb</a:t>
            </a: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. This provides a clean, idiomatic Ruby interface to Vault's API.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661475" y="1626691"/>
            <a:ext cx="5327219" cy="4393406"/>
          </a:xfrm>
          <a:prstGeom prst="roundRect">
            <a:avLst>
              <a:gd name="adj" fmla="val 300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6843" y="1714500"/>
            <a:ext cx="5116484" cy="4217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 libraries/vault_helper.rb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require 'vault'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module VaultHelper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def vault_client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Vault::Client.new(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  address: node['my_cookbook']['vault_addr'],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  token: vault_token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end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def vault_token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# Exchange AppRole creds for token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result = Vault::Client.new(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  address: node['my_cookbook']['vault_addr']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).auth.approle(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  node['my_cookbook']['role_id'],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  node['my_cookbook']['secret_id']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result.auth.client_token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end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def vault_secret(path, key)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secret = vault_client.kv('secret').read(path)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raise "Secret not found: #{path}" unless secret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secret.data[:data][key.to_sym]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end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end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Chef::Recipe.include VaultHelper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6209351" y="1182000"/>
            <a:ext cx="5327219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Approach 2: Direct API Calls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09351" y="1363741"/>
            <a:ext cx="5327219" cy="21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If you prefer not to add a gem dependency, use Ruby's built-in </a:t>
            </a:r>
            <a:r>
              <a:rPr lang="en-US" sz="6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Net::HTTP</a:t>
            </a: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or the </a:t>
            </a:r>
            <a:r>
              <a:rPr lang="en-US" sz="6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chef-utils</a:t>
            </a: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HTTP helper to call Vault's REST API directly — useful in locked-down environments.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6209351" y="1626691"/>
            <a:ext cx="5327219" cy="4112220"/>
          </a:xfrm>
          <a:prstGeom prst="roundRect">
            <a:avLst>
              <a:gd name="adj" fmla="val 320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14719" y="1714500"/>
            <a:ext cx="5116484" cy="3936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 recipes/default.rb (API approach)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require 'net/http'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require 'json'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vault_addr = node['my_cookbook']['vault_addr']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token      = node['my_cookbook']['vault_token']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uri = URI("#{vault_addr}/v1/secret/data/myapp/database")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req = Net::HTTP::Get.new(uri)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req['X-Vault-Token'] = token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resp = Net::HTTP.start(uri.hostname,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uri.port, use_ssl: true) do |http|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http.request(req)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end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secrets = JSON.parse(resp.body)['data']['data']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db_pass = secrets['password']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 Use the secret in a template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template '/etc/myapp/database.yml' do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source 'database.yml.erb'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sensitive true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variables(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db_password: db_pass,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db_host: secrets['host']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end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61475" y="6125071"/>
            <a:ext cx="10868745" cy="240109"/>
          </a:xfrm>
          <a:prstGeom prst="roundRect">
            <a:avLst>
              <a:gd name="adj" fmla="val 5489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81" y="6193631"/>
            <a:ext cx="109733" cy="8780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46821" y="6198472"/>
            <a:ext cx="11105178" cy="107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Always set </a:t>
            </a:r>
            <a:r>
              <a:rPr lang="en-US" sz="650" dirty="0">
                <a:solidFill>
                  <a:srgbClr val="000000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sensitive true</a:t>
            </a:r>
            <a:r>
              <a:rPr lang="en-US" sz="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on any Chef resource that handles secret data. This prevents the resource's content from appearing in Chef logs, reports, or the Chef Automate console — a critical security control.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7620"/>
            <a:ext cx="10868745" cy="3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Managing Sensitive Data in Attributes and Environments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1038423"/>
            <a:ext cx="10868745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One of the most common sources of secret leakage in Chef deployments is improper use of node attributes and environment files. Understanding what is safe to store where — and what is not — is fundamental to a secure Chef + Vault architecture.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61475" y="1461294"/>
            <a:ext cx="10868745" cy="1436588"/>
          </a:xfrm>
          <a:prstGeom prst="roundRect">
            <a:avLst>
              <a:gd name="adj" fmla="val 1241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1475" y="1461294"/>
            <a:ext cx="5434373" cy="1436588"/>
          </a:xfrm>
          <a:custGeom>
            <a:avLst/>
            <a:gdLst/>
            <a:ahLst/>
            <a:cxnLst/>
            <a:rect l="l" t="t" r="r" b="b"/>
            <a:pathLst>
              <a:path w="5434373" h="1436588">
                <a:moveTo>
                  <a:pt x="14859" y="0"/>
                </a:moveTo>
                <a:lnTo>
                  <a:pt x="5434373" y="0"/>
                </a:lnTo>
                <a:lnTo>
                  <a:pt x="5434373" y="1436588"/>
                </a:lnTo>
                <a:lnTo>
                  <a:pt x="14859" y="1436588"/>
                </a:lnTo>
                <a:arcTo wR="14859" hR="14860" stAng="5400000" swAng="5400000"/>
                <a:lnTo>
                  <a:pt x="0" y="14860"/>
                </a:lnTo>
                <a:arcTo wR="14859" hR="14860" stAng="10800000" swAng="5400000"/>
                <a:close/>
              </a:path>
            </a:pathLst>
          </a:cu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0336" y="1580158"/>
            <a:ext cx="519665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✅</a:t>
            </a: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 Safe to Store in Attributes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80336" y="1829792"/>
            <a:ext cx="5196650" cy="949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Vault server address (</a:t>
            </a: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vault_addr</a:t>
            </a: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)</a:t>
            </a:r>
            <a:endParaRPr lang="en-US" sz="900" dirty="0"/>
          </a:p>
          <a:p>
            <a:pPr marL="182880" indent="-182880" algn="l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AppRole Role ID (not a secret — it's like a username)</a:t>
            </a:r>
            <a:endParaRPr lang="en-US" sz="900" dirty="0"/>
          </a:p>
          <a:p>
            <a:pPr marL="182880" indent="-182880" algn="l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Secret paths and key names (metadata only)</a:t>
            </a:r>
            <a:endParaRPr lang="en-US" sz="900" dirty="0"/>
          </a:p>
          <a:p>
            <a:pPr marL="182880" indent="-182880" algn="l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Feature flags and non-sensitive configuration</a:t>
            </a:r>
            <a:endParaRPr lang="en-US" sz="900" dirty="0"/>
          </a:p>
          <a:p>
            <a:pPr marL="182880" indent="-182880" algn="l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Environment identifiers (dev / staging / prod)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95848" y="1461294"/>
            <a:ext cx="5434373" cy="1436588"/>
          </a:xfrm>
          <a:custGeom>
            <a:avLst/>
            <a:gdLst/>
            <a:ahLst/>
            <a:cxnLst/>
            <a:rect l="l" t="t" r="r" b="b"/>
            <a:pathLst>
              <a:path w="5434373" h="1436588">
                <a:moveTo>
                  <a:pt x="0" y="0"/>
                </a:moveTo>
                <a:lnTo>
                  <a:pt x="5419513" y="0"/>
                </a:lnTo>
                <a:arcTo wR="14859" hR="14860" stAng="16200000" swAng="5400000"/>
                <a:lnTo>
                  <a:pt x="5434373" y="1421729"/>
                </a:lnTo>
                <a:arcTo wR="14859" hR="14860" stAng="0" swAng="5400000"/>
                <a:lnTo>
                  <a:pt x="0" y="1436588"/>
                </a:lnTo>
                <a:lnTo>
                  <a:pt x="0" y="0"/>
                </a:lnTo>
                <a:close/>
              </a:path>
            </a:pathLst>
          </a:cu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95848" y="1461294"/>
            <a:ext cx="12700" cy="1436588"/>
          </a:xfrm>
          <a:prstGeom prst="roundRect">
            <a:avLst>
              <a:gd name="adj" fmla="val 49999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4709" y="1580158"/>
            <a:ext cx="519665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❌</a:t>
            </a: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 Never Store in Attributes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4709" y="1829792"/>
            <a:ext cx="5196650" cy="949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AppRole Secret IDs — these are secrets; treat like passwords</a:t>
            </a:r>
            <a:endParaRPr lang="en-US" sz="900" dirty="0"/>
          </a:p>
          <a:p>
            <a:pPr marL="182880" indent="-182880" algn="l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Vault tokens — short-lived, should never be persisted to disk</a:t>
            </a:r>
            <a:endParaRPr lang="en-US" sz="900" dirty="0"/>
          </a:p>
          <a:p>
            <a:pPr marL="182880" indent="-182880" algn="l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Database passwords, API keys, TLS private keys</a:t>
            </a:r>
            <a:endParaRPr lang="en-US" sz="900" dirty="0"/>
          </a:p>
          <a:p>
            <a:pPr marL="182880" indent="-182880" algn="l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Any value returned from a Vault </a:t>
            </a: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kv get</a:t>
            </a: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call</a:t>
            </a:r>
            <a:endParaRPr lang="en-US" sz="900" dirty="0"/>
          </a:p>
          <a:p>
            <a:pPr marL="182880" indent="-182880" algn="l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SSH private keys or certificate material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5950" y="2993926"/>
            <a:ext cx="5460467" cy="3367782"/>
          </a:xfrm>
          <a:prstGeom prst="roundRect">
            <a:avLst>
              <a:gd name="adj" fmla="val 529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812" y="3093241"/>
            <a:ext cx="52227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Environment File Pattern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4812" y="3350518"/>
            <a:ext cx="5222744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Use Chef environment files to set non-sensitive, environment-specific configuration — like which Vault path to read from, or which AppRole to use. Never put the actual secret value in an environment file.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812" y="3936802"/>
            <a:ext cx="5222744" cy="2328863"/>
          </a:xfrm>
          <a:prstGeom prst="roundRect">
            <a:avLst>
              <a:gd name="adj" fmla="val 766"/>
            </a:avLst>
          </a:prstGeom>
          <a:solidFill>
            <a:srgbClr val="3F64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7385" y="4055739"/>
            <a:ext cx="4937597" cy="2091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 environments/production.json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{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"name": "production",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"default_attributes": {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"my_cookbook": {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  "vault_addr": "https://vault.prod.example.com",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  "vault_path": "secret/data/myapp/database",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  "approle_role": "chef-prod-node"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}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}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47152" y="3093241"/>
            <a:ext cx="528941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The Secret ID Bootstrap Problem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47152" y="3350518"/>
            <a:ext cx="5289418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The hardest part of AppRole: how do you get the Secret ID onto the node without storing it insecurely? Common patterns: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47152" y="3754239"/>
            <a:ext cx="5289418" cy="1040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15000"/>
              </a:lnSpc>
              <a:buSzPct val="100000"/>
              <a:buChar char="•"/>
            </a:pPr>
            <a:r>
              <a:rPr lang="en-US" sz="9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0"/>
              </a:rPr>
              <a:t>Response Wrapping</a:t>
            </a: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: Vault wraps the Secret ID in a one-time-use token. Only the intended recipient can unwrap it — even Vault admins can't see the plaintext.</a:t>
            </a:r>
            <a:endParaRPr lang="en-US" sz="900" dirty="0"/>
          </a:p>
          <a:p>
            <a:pPr marL="182880" indent="-182880" algn="l">
              <a:lnSpc>
                <a:spcPct val="115000"/>
              </a:lnSpc>
              <a:buSzPct val="100000"/>
              <a:buChar char="•"/>
            </a:pPr>
            <a:r>
              <a:rPr lang="en-US" sz="9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0"/>
              </a:rPr>
              <a:t>Trusted Orchestrator</a:t>
            </a: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: A CI/CD system or configuration management orchestrator injects the Secret ID as an environment variable at bootstrap time only — never persisted.</a:t>
            </a:r>
            <a:endParaRPr lang="en-US" sz="900" dirty="0"/>
          </a:p>
          <a:p>
            <a:pPr marL="182880" indent="-182880" algn="l">
              <a:lnSpc>
                <a:spcPct val="115000"/>
              </a:lnSpc>
              <a:buSzPct val="100000"/>
              <a:buChar char="•"/>
            </a:pPr>
            <a:r>
              <a:rPr lang="en-US" sz="9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0"/>
              </a:rPr>
              <a:t>Instance Metadata</a:t>
            </a: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: On AWS, use the EC2 auth method instead. Vault verifies the instance's identity with AWS — no pre-shared Secret ID needed at all.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1752" y="220867"/>
            <a:ext cx="4128190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Testing Your Cookbook Locally with Test Kitchen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031752" y="531515"/>
            <a:ext cx="4128190" cy="301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Test Kitchen is Chef's official integration testing framework. It spins up a fresh instance (Docker container or VM), applies your cookbook, and runs InSpec tests against the result — giving you high confidence that your cookbook works before it ever touches a real server. When Vault is involved, you need a strategy for mocking or running Vault locally.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4031752" y="971801"/>
            <a:ext cx="1987500" cy="98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kitchen.yml Configuration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4031752" y="1134864"/>
            <a:ext cx="1987500" cy="2937073"/>
          </a:xfrm>
          <a:prstGeom prst="roundRect">
            <a:avLst>
              <a:gd name="adj" fmla="val 474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07057" y="1197670"/>
            <a:ext cx="1836890" cy="281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 kitchen.yml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driver: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name: docker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privileged: false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provisioner: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name: chef_infra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product_name: chef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product_version: latest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data_bags_path: test/fixtures/data_bags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verifier: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name: inspec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platforms: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- name: ubuntu-22.04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- name: centos-stream-9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suites: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- name: default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run_list: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  - recipe[my_vault_cookbook::default]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attributes: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  my_cookbook: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    vault_addr: "http://localhost:8200"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    role_id: "test-role-id"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    secret_id: "test-secret-id"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    vault_path: "secret/data/myapp/test"</a:t>
            </a:r>
            <a:endParaRPr lang="en-US" sz="450" dirty="0"/>
          </a:p>
        </p:txBody>
      </p:sp>
      <p:sp>
        <p:nvSpPr>
          <p:cNvPr id="7" name="Shape 5"/>
          <p:cNvSpPr/>
          <p:nvPr/>
        </p:nvSpPr>
        <p:spPr>
          <a:xfrm>
            <a:off x="6129581" y="903387"/>
            <a:ext cx="2077986" cy="3239195"/>
          </a:xfrm>
          <a:prstGeom prst="roundRect">
            <a:avLst>
              <a:gd name="adj" fmla="val 453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92385" y="971801"/>
            <a:ext cx="1952378" cy="98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Mocking Vault Responses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6192385" y="1127026"/>
            <a:ext cx="2561962" cy="10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There are three strategies for handling Vault in local Test Kitchen runs:</a:t>
            </a:r>
            <a:endParaRPr lang="en-US" sz="450" dirty="0"/>
          </a:p>
        </p:txBody>
      </p:sp>
      <p:sp>
        <p:nvSpPr>
          <p:cNvPr id="10" name="Text 8"/>
          <p:cNvSpPr/>
          <p:nvPr/>
        </p:nvSpPr>
        <p:spPr>
          <a:xfrm>
            <a:off x="6192385" y="1283891"/>
            <a:ext cx="1952378" cy="1047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91440" indent="-91440" algn="l">
              <a:lnSpc>
                <a:spcPct val="133000"/>
              </a:lnSpc>
              <a:buSzPct val="100000"/>
              <a:buChar char="•"/>
            </a:pPr>
            <a:r>
              <a:rPr lang="en-US" sz="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0"/>
              </a:rPr>
              <a:t>Vault Dev Mode Sidecar</a:t>
            </a:r>
            <a:r>
              <a:rPr lang="en-US" sz="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: Start </a:t>
            </a:r>
            <a:r>
              <a:rPr lang="en-US" sz="4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vault server -dev</a:t>
            </a:r>
            <a:r>
              <a:rPr lang="en-US" sz="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on your workstation before running </a:t>
            </a:r>
            <a:r>
              <a:rPr lang="en-US" sz="4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kitchen converge</a:t>
            </a:r>
            <a:r>
              <a:rPr lang="en-US" sz="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. Configure your kitchen suite to point to </a:t>
            </a:r>
            <a:r>
              <a:rPr lang="en-US" sz="4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http://host.docker.internal:8200</a:t>
            </a:r>
            <a:r>
              <a:rPr lang="en-US" sz="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. Write test secrets before the converge.</a:t>
            </a:r>
            <a:endParaRPr lang="en-US" sz="450" dirty="0"/>
          </a:p>
          <a:p>
            <a:pPr marL="91440" indent="-91440" algn="l">
              <a:lnSpc>
                <a:spcPct val="133000"/>
              </a:lnSpc>
              <a:buSzPct val="100000"/>
              <a:buChar char="•"/>
            </a:pPr>
            <a:r>
              <a:rPr lang="en-US" sz="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0"/>
              </a:rPr>
              <a:t>ChefSpec Stubbing</a:t>
            </a:r>
            <a:r>
              <a:rPr lang="en-US" sz="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: In unit tests, stub the </a:t>
            </a:r>
            <a:r>
              <a:rPr lang="en-US" sz="4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vault_secret</a:t>
            </a:r>
            <a:r>
              <a:rPr lang="en-US" sz="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library method using RSpec's </a:t>
            </a:r>
            <a:r>
              <a:rPr lang="en-US" sz="4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allow(...).to receive(...).and_return(...)</a:t>
            </a:r>
            <a:r>
              <a:rPr lang="en-US" sz="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. This keeps unit tests fast and hermetic.</a:t>
            </a:r>
            <a:endParaRPr lang="en-US" sz="450" dirty="0"/>
          </a:p>
          <a:p>
            <a:pPr marL="91440" indent="-91440" algn="l">
              <a:lnSpc>
                <a:spcPct val="133000"/>
              </a:lnSpc>
              <a:buSzPct val="100000"/>
              <a:buChar char="•"/>
            </a:pPr>
            <a:r>
              <a:rPr lang="en-US" sz="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0"/>
              </a:rPr>
              <a:t>Conditional Mock Recipe</a:t>
            </a:r>
            <a:r>
              <a:rPr lang="en-US" sz="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: Create a </a:t>
            </a:r>
            <a:r>
              <a:rPr lang="en-US" sz="4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recipes/_vault_mock.rb</a:t>
            </a:r>
            <a:r>
              <a:rPr lang="en-US" sz="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included only in test suites that overwrites the library helper with stub values — keeping integration tests Vault-free.</a:t>
            </a:r>
            <a:endParaRPr lang="en-US" sz="450" dirty="0"/>
          </a:p>
        </p:txBody>
      </p:sp>
      <p:sp>
        <p:nvSpPr>
          <p:cNvPr id="11" name="Shape 9"/>
          <p:cNvSpPr/>
          <p:nvPr/>
        </p:nvSpPr>
        <p:spPr>
          <a:xfrm>
            <a:off x="4031752" y="4213225"/>
            <a:ext cx="4128190" cy="2435027"/>
          </a:xfrm>
          <a:prstGeom prst="roundRect">
            <a:avLst>
              <a:gd name="adj" fmla="val 387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07057" y="4276030"/>
            <a:ext cx="3977580" cy="230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 spec/unit/recipes/default_spec.rb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require 'chefspec'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describe 'my_vault_cookbook::default' do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let(:chef_run) do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ChefSpec::SoloRunner.new do |node|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node.normal['my_cookbook']['vault_addr'] = 'http://localhost:8200'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end.converge(described_recipe)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end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before do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# Stub the Vault helper so unit tests don't need a live Vault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allow_any_instance_of(Chef::Recipe)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.to receive(:vault_secret)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.with('myapp/database', 'password')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.and_return('test-password-stub')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end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it 'creates the database config template' do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expect(chef_run).to create_template('/etc/myapp/database.yml')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.with(sensitive: true)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end</a:t>
            </a:r>
            <a:endParaRPr lang="en-US" sz="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end</a:t>
            </a:r>
            <a:endParaRPr lang="en-US" sz="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8101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Promoting Cookbooks Through Environments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61475" y="970281"/>
            <a:ext cx="10868745" cy="3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A robust cookbook promotion pipeline ensures that only tested, verified versions of your cookbook — and its Vault integration — reach production. The pattern below uses Chef environments (or Policyfiles) combined with a CI/CD pipeline to gate promotion at each stage.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61475" y="2502098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99585" y="2160984"/>
            <a:ext cx="12700" cy="341114"/>
          </a:xfrm>
          <a:prstGeom prst="roundRect">
            <a:avLst>
              <a:gd name="adj" fmla="val 49999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678046" y="2374205"/>
            <a:ext cx="255780" cy="255786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20659" y="2395538"/>
            <a:ext cx="170553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5127" y="1362273"/>
            <a:ext cx="4061517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Development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5177" y="1586805"/>
            <a:ext cx="4061517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Developers iterate locally with Test Kitchen + Vault dev mode. Feature branches trigger CI: cookstyle lint, ChefSpec unit tests, and a Test Kitchen converge on Docker. Vault dev tokens used throughout.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992860" y="2502098"/>
            <a:ext cx="12700" cy="341114"/>
          </a:xfrm>
          <a:prstGeom prst="roundRect">
            <a:avLst>
              <a:gd name="adj" fmla="val 49999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71320" y="2374205"/>
            <a:ext cx="255780" cy="255786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3934" y="2395538"/>
            <a:ext cx="170553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68402" y="2956917"/>
            <a:ext cx="4061517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Staging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68452" y="3181449"/>
            <a:ext cx="4061517" cy="473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On merge to </a:t>
            </a:r>
            <a:r>
              <a:rPr lang="en-US" sz="8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main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, cookbook version is bumped and uploaded to Chef Server. Pinned to the </a:t>
            </a:r>
            <a:r>
              <a:rPr lang="en-US" sz="8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staging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environment. A dedicated Vault namespace with staging secrets. Full integration tests run against real Vault AppRole credentials.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186135" y="2160984"/>
            <a:ext cx="12700" cy="341114"/>
          </a:xfrm>
          <a:prstGeom prst="roundRect">
            <a:avLst>
              <a:gd name="adj" fmla="val 49999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64595" y="2374205"/>
            <a:ext cx="255780" cy="255786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07209" y="2395538"/>
            <a:ext cx="170553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1677" y="1362273"/>
            <a:ext cx="4061517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UAT / QA Gate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1726" y="1586805"/>
            <a:ext cx="4061517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Automated InSpec tests plus manual sign-off. Vault audit logs reviewed for unexpected access patterns. Secret rotation tested in this environment before production promotion. Performance and convergence time benchmarked.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379410" y="2502098"/>
            <a:ext cx="12700" cy="341114"/>
          </a:xfrm>
          <a:prstGeom prst="roundRect">
            <a:avLst>
              <a:gd name="adj" fmla="val 49999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257870" y="2374205"/>
            <a:ext cx="255780" cy="255786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300483" y="2395538"/>
            <a:ext cx="170553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54952" y="2956917"/>
            <a:ext cx="4061517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Production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55001" y="3181449"/>
            <a:ext cx="4061517" cy="466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Cookbook version pinned in the </a:t>
            </a:r>
            <a:r>
              <a:rPr lang="en-US" sz="8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production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Chef environment or Policyfile lock. Blue-green deployment pattern: converge a canary node first, monitor Chef client logs and Vault audit logs, then roll out to the full fleet.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61475" y="3830174"/>
            <a:ext cx="529566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Policyfile Promotion Pattern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1475" y="4086225"/>
            <a:ext cx="5295668" cy="2227957"/>
          </a:xfrm>
          <a:prstGeom prst="roundRect">
            <a:avLst>
              <a:gd name="adj" fmla="val 766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7897" y="4199930"/>
            <a:ext cx="5022824" cy="2000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 Policyfile.rb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name 'my_vault_cookbook'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default_source :supermarket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run_list 'my_vault_cookbook::default'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cookbook 'my_vault_cookbook', path: '.'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## Push to a policy group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chef push staging my_vault_cookbook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chef push production my_vault_cookbook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40902" y="3830174"/>
            <a:ext cx="529566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Per-Environment Vault Policies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40902" y="4079300"/>
            <a:ext cx="5295668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Each environment should have its own Vault policy, AppRole, and secrets namespace. This prevents staging credentials from ever being able to read production secrets — even if a node is misconfigured. Use Vault namespaces (Enterprise) or separate mount paths (OSS) to isolate environments cleanly.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40902" y="4607223"/>
            <a:ext cx="5295668" cy="534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2000"/>
              </a:lnSpc>
              <a:buSzPct val="100000"/>
              <a:buChar char="•"/>
            </a:pPr>
            <a:r>
              <a:rPr lang="en-US" sz="8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secret/dev/myapp/*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— dev policy, dev AppRole</a:t>
            </a:r>
            <a:endParaRPr lang="en-US" sz="850" dirty="0"/>
          </a:p>
          <a:p>
            <a:pPr marL="172720" indent="-172720" algn="l">
              <a:lnSpc>
                <a:spcPct val="112000"/>
              </a:lnSpc>
              <a:buSzPct val="100000"/>
              <a:buChar char="•"/>
            </a:pPr>
            <a:r>
              <a:rPr lang="en-US" sz="8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secret/staging/myapp/*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— staging policy, staging AppRole</a:t>
            </a:r>
            <a:endParaRPr lang="en-US" sz="850" dirty="0"/>
          </a:p>
          <a:p>
            <a:pPr marL="172720" indent="-172720" algn="l">
              <a:lnSpc>
                <a:spcPct val="112000"/>
              </a:lnSpc>
              <a:buSzPct val="100000"/>
              <a:buChar char="•"/>
            </a:pPr>
            <a:r>
              <a:rPr lang="en-US" sz="8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secret/prod/myapp/*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— prod policy, prod AppRole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5549"/>
            <a:ext cx="10868745" cy="42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Real-World Pitfalls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1123950"/>
            <a:ext cx="10868745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Integrating Chef and Vault in production surfaces a set of operational challenges that don't appear in tutorials. Here are the most common failure modes — and the proven patterns to address them before they become incidents.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51992"/>
            <a:ext cx="5377621" cy="22020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3641" y="1807964"/>
            <a:ext cx="4989487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Token Renewal &amp; Expiry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93641" y="2089944"/>
            <a:ext cx="4989487" cy="1608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Vault tokens have a TTL. If a Chef converge runs longer than expected — or is scheduled infrequently — the token may expire mid-run, causing authentication failures for every subsequent secret lookup. </a:t>
            </a:r>
            <a:r>
              <a:rPr lang="en-US" sz="10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0"/>
              </a:rPr>
              <a:t>Solution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: Set token TTL well above your maximum converge duration. Use the </a:t>
            </a: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vault token renew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API call at the start of long recipes. For scheduled Chef client runs (cron/systemd), generate a fresh token at the start of each run via AppRole login — never cache tokens between runs. Monitor token TTL with a Vault policy that alerts on tokens approaching expiry.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2500" y="1651992"/>
            <a:ext cx="5377720" cy="22020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84666" y="1807964"/>
            <a:ext cx="4989586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Secret Rotation Without Downtime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384666" y="2089944"/>
            <a:ext cx="4989586" cy="1608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Rotating a database password stored in Vault is only half the job. Chef nodes caching the old password in a rendered template won't pick up the new value until the next converge. </a:t>
            </a:r>
            <a:r>
              <a:rPr lang="en-US" sz="10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0"/>
              </a:rPr>
              <a:t>Solution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: Design recipes to always fetch secrets from Vault at the start of each Chef run — never cache Vault responses to disk or node attributes. For zero-downtime rotation, use Vault's KV v2 versioning: write the new secret, verify nodes have converged with the new value, then delete the old version. Use Chef's </a:t>
            </a: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notifies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and </a:t>
            </a: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subscribes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to restart services only when the rendered config actually changes.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967460"/>
            <a:ext cx="5377621" cy="242133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3641" y="4123432"/>
            <a:ext cx="4989487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Debugging Auth Failures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93641" y="4405412"/>
            <a:ext cx="4989487" cy="182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AppRole authentication failures are often cryptic. Common causes: expired or already-used Secret IDs (</a:t>
            </a: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secret_id_num_uses=1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), clock skew between Vault server and Chef node (TOTP-based auth is time-sensitive), network ACLs blocking the Vault port (default: 8200), or incorrect Vault address in attributes. </a:t>
            </a:r>
            <a:r>
              <a:rPr lang="en-US" sz="10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0"/>
              </a:rPr>
              <a:t>Solution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: Enable Vault's </a:t>
            </a: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sys/audit/file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backend and check it first — every auth attempt is logged with a reason code. Test AppRole login manually from the node: </a:t>
            </a: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vault write auth/approle/login role_id=... secret_id=...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. Add a </a:t>
            </a: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ruby_block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 to your recipe that logs the Vault response code (not the token) for debugging without exposing credentials.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2500" y="3967460"/>
            <a:ext cx="5377720" cy="24213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84666" y="4123432"/>
            <a:ext cx="4989586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0"/>
              </a:rPr>
              <a:t>Vault Seal &amp; High Availability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384666" y="4405412"/>
            <a:ext cx="4989586" cy="800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In production, Vault may be sealed due to a restart, operator action, or auto-unseal failure. A sealed Vault means Chef converges fail for every node — potentially blocking deployments or emergency remediations. </a:t>
            </a:r>
            <a:r>
              <a:rPr lang="en-US" sz="10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0"/>
              </a:rPr>
              <a:t>Solution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0"/>
              </a:rPr>
              <a:t>: Run Vault in HA mode (integrated Raft storage or Consul backend) with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Lorenzo McGhie</cp:lastModifiedBy>
  <cp:revision>2</cp:revision>
  <dcterms:created xsi:type="dcterms:W3CDTF">2026-10-25T20:23:07Z</dcterms:created>
  <dcterms:modified xsi:type="dcterms:W3CDTF">2026-10-25T20:23:23Z</dcterms:modified>
</cp:coreProperties>
</file>