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Barlow Bold" charset="-122"/>
      <p:regular r:id="rId23"/>
    </p:embeddedFont>
    <p:embeddedFont>
      <p:font typeface="Montserrat" pitchFamily="2" charset="0"/>
      <p:regular r:id="rId24"/>
    </p:embeddedFont>
    <p:embeddedFont>
      <p:font typeface="Montserrat Bold" pitchFamily="2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1.fntdata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1A06E-A469-2A4F-B212-DF5F553123B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CB995-7F25-6C41-A48E-B06F3ADD1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52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0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4.svg" /><Relationship Id="rId5" Type="http://schemas.openxmlformats.org/officeDocument/2006/relationships/image" Target="../media/image13.svg" /><Relationship Id="rId4" Type="http://schemas.openxmlformats.org/officeDocument/2006/relationships/image" Target="../media/image12.sv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9.svg" /><Relationship Id="rId4" Type="http://schemas.openxmlformats.org/officeDocument/2006/relationships/image" Target="../media/image18.sv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1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5.png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1.svg" /><Relationship Id="rId5" Type="http://schemas.openxmlformats.org/officeDocument/2006/relationships/image" Target="../media/image30.png" /><Relationship Id="rId4" Type="http://schemas.openxmlformats.org/officeDocument/2006/relationships/image" Target="../media/image29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03794" y="2308275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Tenable vs. Qualys: What You Need to Know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3724870"/>
            <a:ext cx="635599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 practical guide to understanding both platforms — and why Qualys is the stronger choice for modern enterprise vulnerability management.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50718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Agenda: What We'll Cover Today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420144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2701429"/>
            <a:ext cx="3522277" cy="2540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1908" y="2842419"/>
            <a:ext cx="35222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The Landscape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1908" y="3247529"/>
            <a:ext cx="352227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Why vulnerability management tools are mission-critical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34660" y="2420144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660" y="2701429"/>
            <a:ext cx="3522277" cy="2540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34660" y="2842419"/>
            <a:ext cx="35222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Tenable Deep Dive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34660" y="3247529"/>
            <a:ext cx="352227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Capabilities, use cases, and where it falls short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37411" y="2420144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37411" y="2701429"/>
            <a:ext cx="3522376" cy="2540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37411" y="2842419"/>
            <a:ext cx="352237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Deep Dive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7411" y="3247529"/>
            <a:ext cx="352237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Architecture, products, and key differentiators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908" y="4141192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1908" y="4404420"/>
            <a:ext cx="5373652" cy="2540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1908" y="4563467"/>
            <a:ext cx="537365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Head-to-Head Comparison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31908" y="4968577"/>
            <a:ext cx="537365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Feature-by-feature breakdown and why Qualys wins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6035" y="4141192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6035" y="4404420"/>
            <a:ext cx="5373752" cy="2540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6035" y="4563467"/>
            <a:ext cx="537375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in Practice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86035" y="4968577"/>
            <a:ext cx="537375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Onboarding, dashboards, integrations, and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03794" y="571273"/>
            <a:ext cx="6355993" cy="983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The Vulnerability Management Landscape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203794" y="1704777"/>
            <a:ext cx="6355993" cy="655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Every unpatched vulnerability is an open door. In today's threat environment, organizations face thousands of exposures across endpoints, cloud workloads, containers, and OT systems — often without realizing it.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03794" y="2499717"/>
            <a:ext cx="6355993" cy="862905"/>
          </a:xfrm>
          <a:prstGeom prst="roundRect">
            <a:avLst>
              <a:gd name="adj" fmla="val 25991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59564" y="2655491"/>
            <a:ext cx="604445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🔍</a:t>
            </a: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Find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59564" y="2988270"/>
            <a:ext cx="604445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Continuously discover assets and scan for known vulnerabilities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03794" y="3486348"/>
            <a:ext cx="6355993" cy="862905"/>
          </a:xfrm>
          <a:prstGeom prst="roundRect">
            <a:avLst>
              <a:gd name="adj" fmla="val 25991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59564" y="3642122"/>
            <a:ext cx="604445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⚖️</a:t>
            </a: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Prioritize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59564" y="3974902"/>
            <a:ext cx="604445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Risk-score findings so teams focus on what matters most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03794" y="4472980"/>
            <a:ext cx="6355993" cy="862905"/>
          </a:xfrm>
          <a:prstGeom prst="roundRect">
            <a:avLst>
              <a:gd name="adj" fmla="val 25991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59564" y="4628753"/>
            <a:ext cx="604445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🛠️</a:t>
            </a: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Remediate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359564" y="4961533"/>
            <a:ext cx="604445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Drive fixes through ticketing, automation, and reporting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03794" y="5459611"/>
            <a:ext cx="6355993" cy="862905"/>
          </a:xfrm>
          <a:prstGeom prst="roundRect">
            <a:avLst>
              <a:gd name="adj" fmla="val 25991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59564" y="5615384"/>
            <a:ext cx="604445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📋</a:t>
            </a: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Comply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59564" y="5948164"/>
            <a:ext cx="604445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Demonstrate posture to auditors and regulators continuously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472505"/>
            <a:ext cx="6956152" cy="39128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14293" y="745331"/>
            <a:ext cx="864868" cy="261541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17478" y="800334"/>
            <a:ext cx="12680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TENABLE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014293" y="1111910"/>
            <a:ext cx="3551744" cy="113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Introducing Tenable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8014293" y="2368550"/>
            <a:ext cx="3551744" cy="1075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Founded in 2002, Tenable pioneered vulnerability scanning with the </a:t>
            </a: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Nessus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scanner — still one of the most widely deployed tools in the world.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14293" y="3591223"/>
            <a:ext cx="3551744" cy="264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Tenable.io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Cloud-based VM platform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Tenable.sc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On-premises enterprise option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Nessus Pro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Standalone scanner for smaller teams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OT Security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Operational technology coverage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Tenable One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Exposure management platform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10495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How Tenable Works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017911"/>
            <a:ext cx="10927878" cy="2996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9152" y="3100560"/>
            <a:ext cx="1651394" cy="62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Deploy Scanner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49152" y="3807262"/>
            <a:ext cx="1651394" cy="70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Install agent or scanner on targets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7950" y="2694642"/>
            <a:ext cx="1651393" cy="311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Authenticate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177950" y="3090047"/>
            <a:ext cx="1651393" cy="94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Provide credentials for credentialed scans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48800" y="3100560"/>
            <a:ext cx="1651393" cy="311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Run Plugins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448800" y="3495965"/>
            <a:ext cx="1651393" cy="709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Execute Nessus checks across assets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98625" y="2619898"/>
            <a:ext cx="1651393" cy="62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Report Findings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698625" y="3326600"/>
            <a:ext cx="1651393" cy="709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Send vulnerability results to console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31908" y="5217120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Tenable uses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Nessus plugins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(100,000+) to detect vulnerabilities. Scanning can be agent-based, agentless (credentialed/uncredentialed), or passive — covering cloud, on-prem, and mobile assets.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31908" y="766118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Tenable in Practice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1588790"/>
            <a:ext cx="6355993" cy="13947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9380" y="1794669"/>
            <a:ext cx="584264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Scheduled Network Scanning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39380" y="2199779"/>
            <a:ext cx="584264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Weekly or monthly credentialed scans across subnets, ideal for mid-market environments with stable infrastructure.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3163987"/>
            <a:ext cx="6355993" cy="13947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39380" y="3369866"/>
            <a:ext cx="584264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Compliance Auditing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39380" y="3774976"/>
            <a:ext cx="584264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Using built-in audit files to check CIS benchmarks, DISA STIGs, and PCI-DSS configurations.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4739184"/>
            <a:ext cx="6355993" cy="13947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9380" y="4945063"/>
            <a:ext cx="584264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Developer/DevOps Scanning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39380" y="5350173"/>
            <a:ext cx="584264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Container image scanning and CI/CD pipeline integration via Tenable.io for shift-left security.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44314"/>
            <a:ext cx="1591131" cy="231378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287" y="594796"/>
            <a:ext cx="2017960" cy="140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TENABLE LIMITATIONS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860557"/>
            <a:ext cx="10927878" cy="50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Where Tenable Falls Short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03086" y="1717873"/>
            <a:ext cx="3111918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Siloed Products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03086" y="2096889"/>
            <a:ext cx="3111918" cy="89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Tenable.io and Tenable.sc are separate platforms requiring separate licensing, data, and workflows — creating operational gaps at scale.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3086" y="3304679"/>
            <a:ext cx="3111918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Scanner-Centric Architecture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03086" y="3683695"/>
            <a:ext cx="3111918" cy="89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Heavy reliance on scan scheduling means visibility gaps between scan windows. Near-real-time coverage requires significant agent rollout.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03086" y="4891484"/>
            <a:ext cx="3111918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Remediation Workflow Gaps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03086" y="5270500"/>
            <a:ext cx="3111918" cy="89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Tenable surfaces findings but offers limited native remediation orchestration. Teams must rely on external ticketing tools.</a:t>
            </a:r>
            <a:endParaRPr lang="en-US" sz="11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019" y="1956098"/>
            <a:ext cx="6973019" cy="3922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03794" y="530721"/>
            <a:ext cx="692530" cy="235744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296859" y="581363"/>
            <a:ext cx="1115985" cy="1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QUALYS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203794" y="854070"/>
            <a:ext cx="6355993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Introducing Qualys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203794" y="1529953"/>
            <a:ext cx="6355993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Founded in 1999, Qualys pioneered </a:t>
            </a:r>
            <a:r>
              <a:rPr lang="en-US" sz="12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cloud-native security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long before it was the norm. Its single-platform architecture powers a full suite of security and compliance apps — no hardware required.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03794" y="2372221"/>
            <a:ext cx="6355993" cy="888802"/>
          </a:xfrm>
          <a:prstGeom prst="roundRect">
            <a:avLst>
              <a:gd name="adj" fmla="val 2618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65219" y="2533650"/>
            <a:ext cx="603314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VMDR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65219" y="2868811"/>
            <a:ext cx="603314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Vulnerability Management, Detection &amp; Response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03794" y="3394273"/>
            <a:ext cx="6355993" cy="888802"/>
          </a:xfrm>
          <a:prstGeom prst="roundRect">
            <a:avLst>
              <a:gd name="adj" fmla="val 2618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65219" y="3555702"/>
            <a:ext cx="603314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CSAM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65219" y="3890863"/>
            <a:ext cx="603314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Cyber Security Asset Management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03794" y="4416326"/>
            <a:ext cx="6355993" cy="888802"/>
          </a:xfrm>
          <a:prstGeom prst="roundRect">
            <a:avLst>
              <a:gd name="adj" fmla="val 2618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65219" y="4577755"/>
            <a:ext cx="603314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Policy Compliance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65219" y="4912916"/>
            <a:ext cx="603314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CIS, DISA, PCI, HIPAA benchmarks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203794" y="5438378"/>
            <a:ext cx="6355993" cy="888802"/>
          </a:xfrm>
          <a:prstGeom prst="roundRect">
            <a:avLst>
              <a:gd name="adj" fmla="val 2618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65219" y="5599807"/>
            <a:ext cx="603314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TruRisk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65219" y="5934968"/>
            <a:ext cx="603314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AI-driven risk scoring and prioritization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61628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How Qualys Works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24" y="1843385"/>
            <a:ext cx="5965378" cy="4035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49044" y="3272621"/>
            <a:ext cx="1086248" cy="104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One Platform, Three Methods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172482" y="4558433"/>
            <a:ext cx="1615988" cy="52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Virtual Scanner Appliance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72482" y="5152076"/>
            <a:ext cx="1615988" cy="39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Network-based scanning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385379" y="4689250"/>
            <a:ext cx="1615987" cy="261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API Connectors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85379" y="5021397"/>
            <a:ext cx="1615987" cy="39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Cloud asset ingestion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85379" y="2165095"/>
            <a:ext cx="1615987" cy="52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Cloud Platform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85379" y="2758738"/>
            <a:ext cx="1615987" cy="39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Unified analysis and reporting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82831" y="2165095"/>
            <a:ext cx="1615987" cy="52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Cloud Agent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82831" y="2758738"/>
            <a:ext cx="1615987" cy="39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Continuous endpoint telemetry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27687" y="1585789"/>
            <a:ext cx="3538350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One Platform, Three Collection Methods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027687" y="2338983"/>
            <a:ext cx="3538350" cy="202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Qualys ingests data from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lightweight agents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(2–5 MB, no reboot),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virtual scanner appliances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, and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cloud API connectors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— all feeding a single cloud backend. Data is normalized, deduplicated, and scored automatically.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27687" y="4564559"/>
            <a:ext cx="3538350" cy="1570633"/>
          </a:xfrm>
          <a:prstGeom prst="roundRect">
            <a:avLst>
              <a:gd name="adj" fmla="val 17243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162" y="4841677"/>
            <a:ext cx="225618" cy="18047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14254" y="4772025"/>
            <a:ext cx="2771309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Agents provide continuous visibility between scan windows — a key advantage over traditional scanners.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6573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vs. Tenable: Head-to-Head</a:t>
            </a:r>
            <a:endParaRPr lang="en-US" sz="3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1778695"/>
          <a:ext cx="10927878" cy="914400"/>
        </p:xfrm>
        <a:graphic>
          <a:graphicData uri="http://schemas.openxmlformats.org/drawingml/2006/table">
            <a:tbl>
              <a:tblPr/>
              <a:tblGrid>
                <a:gridCol w="327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4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4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Feature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3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Tenable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063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3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Qualys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063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8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Architecture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Multiple products (io, sc, Nessus)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Single unified cloud platform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Agent Footprint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Moderate; can impact performance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Lightweight (~2–5 MB), low CPU impact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Risk Scoring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VPR (Vulnerability Priority Rating)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TruRisk — broader context, AI-driven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Compliance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Audit files via Nessus plugins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Native Policy Compliance app, built-in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Remediation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External tools required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Native Patch Management included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Cloud Coverage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Connectors available, less native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0"/>
                        </a:rPr>
                        <a:t>Deep native AWS, Azure, GCP integration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03794" y="580778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Why Qualys Wins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03794" y="1403449"/>
            <a:ext cx="3087709" cy="2656582"/>
          </a:xfrm>
          <a:prstGeom prst="roundRect">
            <a:avLst>
              <a:gd name="adj" fmla="val 10194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390618" y="1590278"/>
            <a:ext cx="541622" cy="541635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9542" y="1739205"/>
            <a:ext cx="243675" cy="2436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0618" y="2312392"/>
            <a:ext cx="2714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Enterprise Scalability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90618" y="2717502"/>
            <a:ext cx="271406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Qualys handles millions of assets across hybrid environments from a single pane of glass — no data silos.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471978" y="1403449"/>
            <a:ext cx="3087809" cy="2656582"/>
          </a:xfrm>
          <a:prstGeom prst="roundRect">
            <a:avLst>
              <a:gd name="adj" fmla="val 10194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658802" y="1590278"/>
            <a:ext cx="541622" cy="541635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7726" y="1739205"/>
            <a:ext cx="243675" cy="2436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8802" y="2312392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Higher Accuracy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658802" y="2717502"/>
            <a:ext cx="271416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Continuous agent data reduces false positives and catches vulnerabilities between scan windows.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203794" y="4240510"/>
            <a:ext cx="6355993" cy="2078732"/>
          </a:xfrm>
          <a:prstGeom prst="roundRect">
            <a:avLst>
              <a:gd name="adj" fmla="val 13028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5390618" y="4427339"/>
            <a:ext cx="541622" cy="541635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9542" y="4576266"/>
            <a:ext cx="243675" cy="24368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0618" y="5149453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Unified Visibility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5390618" y="5554563"/>
            <a:ext cx="598234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One platform covers VM, compliance, patching, and asset management — eliminating tool sprawl.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03263"/>
            <a:ext cx="608196" cy="257076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3407" y="758150"/>
            <a:ext cx="1014784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CSAM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1908" y="1062339"/>
            <a:ext cx="3556308" cy="111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Asset Management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31908" y="2295823"/>
            <a:ext cx="3556308" cy="1574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You can't secure what you don't know you have.</a:t>
            </a: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Qualys Cyber Security Asset Management (CSAM) builds a continuously updated inventory of every asset — on-prem, cloud, remote, and unmanaged.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1908" y="4012605"/>
            <a:ext cx="3556308" cy="2265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Auto-discovery via agents, scanners, and cloud APIs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Asset tagging by business unit, criticality, or location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End-of-life software and hardware detection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Integration with CMDB tools like ServiceNow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504" y="1471811"/>
            <a:ext cx="6958533" cy="39141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13755"/>
            <a:ext cx="496677" cy="201315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1381" y="556007"/>
            <a:ext cx="947317" cy="12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VMDR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1908" y="784623"/>
            <a:ext cx="10927878" cy="436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VMDR: One Platform, Full Lifecycle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336179"/>
            <a:ext cx="10927878" cy="4530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4372" y="4490964"/>
            <a:ext cx="2576047" cy="32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Remediate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533208" y="4490964"/>
            <a:ext cx="2576047" cy="32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Prioritize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31103" y="2402473"/>
            <a:ext cx="2576047" cy="32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Assess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4372" y="2413351"/>
            <a:ext cx="2576047" cy="32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Discover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5978073"/>
            <a:ext cx="10927878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VMDR consolidates four historically separate tools into one. Teams move from finding vulnerabilities to patching them without leaving the platform — dramatically reducing mean time to remediate (MTTR).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31908" y="627784"/>
            <a:ext cx="6355993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Policy Compliance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31908" y="1416844"/>
            <a:ext cx="6355993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Automate configuration audits against industry benchmarks — continuously, not just at audit time.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2158305"/>
            <a:ext cx="3093266" cy="21090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73521" y="2289473"/>
            <a:ext cx="209842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1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25777" y="2857897"/>
            <a:ext cx="2705528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Select a Framework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5777" y="3247231"/>
            <a:ext cx="2705528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CIS Benchmarks, DISA STIGs, PCI-DSS, HIPAA, NIST, and more — 500+ built-in policies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4536" y="2158305"/>
            <a:ext cx="3093365" cy="21090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6248" y="2289473"/>
            <a:ext cx="209842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2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088405" y="2857897"/>
            <a:ext cx="2705628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Run Continuous Checks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088405" y="3247231"/>
            <a:ext cx="2705628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Agents evaluate configurations in real time, not just during scheduled scans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4436765"/>
            <a:ext cx="6355993" cy="1833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04934" y="4567932"/>
            <a:ext cx="209842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3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825777" y="5136356"/>
            <a:ext cx="5968255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Remediate &amp; Report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825777" y="5525691"/>
            <a:ext cx="5968255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Generate audit-ready evidence reports automatically; assign fixes via ServiceNow or Jira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39477"/>
            <a:ext cx="817443" cy="261541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5093" y="794481"/>
            <a:ext cx="122065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TRURISK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1908" y="1106056"/>
            <a:ext cx="5253997" cy="56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Qualys TruRisk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631908" y="1796653"/>
            <a:ext cx="5253997" cy="1075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Not all vulnerabilities are equal. </a:t>
            </a: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TruRisk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goes beyond CVSS scores by combining asset criticality, real-world threat intelligence, exploit availability, and active attack likelihood into a single actionable risk score.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1908" y="3019326"/>
            <a:ext cx="5253997" cy="172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Asset Criticality Rating (ACR)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Weight findings by business impact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Threat Intelligence Feeds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CISA KEV, exploit DB, dark web signals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Risk Aggregation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Roll up scores at host, group, or org level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1908" y="4931172"/>
            <a:ext cx="5253997" cy="1187351"/>
          </a:xfrm>
          <a:prstGeom prst="roundRect">
            <a:avLst>
              <a:gd name="adj" fmla="val 21740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49" y="5178028"/>
            <a:ext cx="215101" cy="1720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1091" y="5121672"/>
            <a:ext cx="4522774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TruRisk helps security teams reduce remediation backlog by focusing on the ~5% of vulnerabilities that pose real risk.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139" y="801886"/>
            <a:ext cx="5253997" cy="52541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27448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Getting Started with Qualys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840409"/>
            <a:ext cx="5463939" cy="7221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383" y="2743002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Provision Subscription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12383" y="3148112"/>
            <a:ext cx="510299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Activate modules in the Qualys Cloud Platform portal; assign user roles and business units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840409"/>
            <a:ext cx="5463939" cy="7221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6322" y="2743002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Deploy Agents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76322" y="3148112"/>
            <a:ext cx="510299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Push the 2–5 MB Cloud Agent via GPO, SCCM, Ansible, or Jamf — no reboot required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08" y="3906441"/>
            <a:ext cx="5463939" cy="7221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383" y="4809034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Deploy Scanners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12383" y="5214144"/>
            <a:ext cx="510299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Install virtual scanner appliances for network segments where agents aren't feasible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906441"/>
            <a:ext cx="5463939" cy="7221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6322" y="4809034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Run First Scan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76322" y="5214144"/>
            <a:ext cx="510299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Launch an authenticated scan or rely on agent data — findings appear in minutes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469727"/>
            <a:ext cx="6965776" cy="391834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96335" y="665758"/>
            <a:ext cx="980356" cy="244376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092773" y="718508"/>
            <a:ext cx="139706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REPORTING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996335" y="1006593"/>
            <a:ext cx="3569702" cy="1057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Dashboards &amp; Reports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996335" y="2168426"/>
            <a:ext cx="3569702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Qualys transforms raw vulnerability data into clear, role-appropriate insights — from executive summaries to technical remediation tickets.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96335" y="3270052"/>
            <a:ext cx="3569702" cy="209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Executive Dashboard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TruRisk trend, SLA compliance, top risks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Technical Reports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Host-level findings, CVE details, fix guidance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Compliance Reports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Pass/fail per control, audit evidence export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Custom Widgets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: Drag-and-drop QQL-powered dashboards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96335" y="5494734"/>
            <a:ext cx="3569702" cy="729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Use </a:t>
            </a: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Qualys Query Language (QQL)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to filter and slice data across any dimension — asset tag, OS, severity, or business unit.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33196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Integrating Qualys With Your Stack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244923"/>
            <a:ext cx="1536562" cy="1536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400714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SIEM Integration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4412258"/>
            <a:ext cx="3492214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Stream findings to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Splunk, Microsoft Sentinel, or IBM QRadar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via syslog, API, or native connectors for correlated threat detection.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40" y="2244923"/>
            <a:ext cx="1536562" cy="1536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9740" y="400714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ITSM / Ticketing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49740" y="4412258"/>
            <a:ext cx="3492214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Auto-create and assign remediation tickets in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ServiceNow, Jira, or Remedy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with full vulnerability context and SLA tracking.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572" y="2244923"/>
            <a:ext cx="1536562" cy="1536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7572" y="400714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DevSecOps / CI-CD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7572" y="4412258"/>
            <a:ext cx="3492214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Embed Qualys container scanning and IaC checks into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Jenkins, GitLab, or GitHub Actions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pipelines to catch issues before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80048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203794" y="592926"/>
            <a:ext cx="6355993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Common Qualys Mistakes to Avoid</a:t>
            </a:r>
            <a:endParaRPr lang="en-US" sz="32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3794" y="1268809"/>
            <a:ext cx="6355993" cy="115768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54117" y="1442938"/>
            <a:ext cx="593154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❌</a:t>
            </a: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Skipping Asset Tagging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5454117" y="1790799"/>
            <a:ext cx="5931545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Without tags, reports are ungrouped noise. Tag by environment, owner, and criticality from day one — it powers every downstream workflow.</a:t>
            </a:r>
            <a:endParaRPr lang="en-US" sz="12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3794" y="2559745"/>
            <a:ext cx="6355993" cy="115768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454117" y="2733873"/>
            <a:ext cx="593154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❌</a:t>
            </a: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Ignoring ACR Tuning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5454117" y="3081734"/>
            <a:ext cx="5931545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Default Asset Criticality Ratings may not reflect your business. Tune ACR for crown-jewel systems to ensure TruRisk scores are meaningful.</a:t>
            </a:r>
            <a:endParaRPr lang="en-US" sz="12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3794" y="3850680"/>
            <a:ext cx="6355993" cy="11576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454117" y="4024809"/>
            <a:ext cx="593154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❌</a:t>
            </a: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Scanner-Only Deployment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454117" y="4372670"/>
            <a:ext cx="5931545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Relying solely on scanners creates blind spots. Always complement with agents for laptops, remote workers, and ephemeral cloud instances.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3794" y="5141615"/>
            <a:ext cx="6355993" cy="115768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454117" y="5315744"/>
            <a:ext cx="593154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❌</a:t>
            </a: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 No SLA Policy Defined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5454117" y="5663605"/>
            <a:ext cx="5931545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Without remediation SLAs tied to severity, dashboards are decorative. Define fix timelines (e.g., Critical = 7 days) and enforce them via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5778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Key Takeaways &amp; Next Steps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01836" y="1580455"/>
            <a:ext cx="5503824" cy="3347839"/>
          </a:xfrm>
          <a:prstGeom prst="roundRect">
            <a:avLst>
              <a:gd name="adj" fmla="val 12943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2310" y="1781944"/>
            <a:ext cx="514287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What You Learned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82310" y="2238276"/>
            <a:ext cx="5142875" cy="250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Tenable is mature but siloed — multiple products, limited native remediation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Qualys is cloud-native, unified, and purpose-built for enterprise scale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TruRisk and VMDR together close the loop from discovery to patch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Proper tagging, ACR tuning, and agent coverage are foundational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2457" y="178194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Your Next Steps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22457" y="2238276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Request a Qualys trial or POC for your environment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2457" y="2292350"/>
            <a:ext cx="180474" cy="180479"/>
          </a:xfrm>
          <a:prstGeom prst="ellipse">
            <a:avLst/>
          </a:prstGeom>
          <a:noFill/>
          <a:ln w="19050">
            <a:solidFill>
              <a:srgbClr val="359D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22457" y="2590304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Inventory existing tools and identify gaps Qualys can fill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2457" y="2644378"/>
            <a:ext cx="180474" cy="180479"/>
          </a:xfrm>
          <a:prstGeom prst="ellipse">
            <a:avLst/>
          </a:prstGeom>
          <a:noFill/>
          <a:ln w="19050">
            <a:solidFill>
              <a:srgbClr val="359D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22457" y="3231257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Define asset tagging taxonomy before agent rollout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2457" y="3285331"/>
            <a:ext cx="180474" cy="180479"/>
          </a:xfrm>
          <a:prstGeom prst="ellipse">
            <a:avLst/>
          </a:prstGeom>
          <a:noFill/>
          <a:ln w="19050">
            <a:solidFill>
              <a:srgbClr val="359D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2457" y="3583285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Set remediation SLAs aligned to your risk policy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2457" y="3637359"/>
            <a:ext cx="180474" cy="180479"/>
          </a:xfrm>
          <a:prstGeom prst="ellipse">
            <a:avLst/>
          </a:prstGeom>
          <a:noFill/>
          <a:ln w="19050">
            <a:solidFill>
              <a:srgbClr val="359D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2457" y="3935313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Connect Qualys to ServiceNow or Jira for ticketing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22457" y="3989388"/>
            <a:ext cx="180474" cy="180479"/>
          </a:xfrm>
          <a:prstGeom prst="ellipse">
            <a:avLst/>
          </a:prstGeom>
          <a:noFill/>
          <a:ln w="19050">
            <a:solidFill>
              <a:srgbClr val="359D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2457" y="4287341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Schedule a TruRisk review with your security leadership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2457" y="4341416"/>
            <a:ext cx="180474" cy="180479"/>
          </a:xfrm>
          <a:prstGeom prst="ellipse">
            <a:avLst/>
          </a:prstGeom>
          <a:noFill/>
          <a:ln w="19050">
            <a:solidFill>
              <a:srgbClr val="359D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1908" y="5131395"/>
            <a:ext cx="10927878" cy="1010841"/>
          </a:xfrm>
          <a:prstGeom prst="roundRect">
            <a:avLst>
              <a:gd name="adj" fmla="val 26792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3" y="5389463"/>
            <a:ext cx="225618" cy="18047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18475" y="5356920"/>
            <a:ext cx="1016083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The best vulnerability management program is one that runs continuously, not just at audit time. Qualys makes that possible at scale.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Lorenzo McGhie</cp:lastModifiedBy>
  <cp:revision>2</cp:revision>
  <dcterms:created xsi:type="dcterms:W3CDTF">2026-10-25T20:26:12Z</dcterms:created>
  <dcterms:modified xsi:type="dcterms:W3CDTF">2026-10-25T20:26:25Z</dcterms:modified>
</cp:coreProperties>
</file>