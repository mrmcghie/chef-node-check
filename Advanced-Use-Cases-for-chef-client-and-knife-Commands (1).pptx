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embeddedFontLst>
    <p:embeddedFont>
      <p:font typeface="Gelasio" charset="-122"/>
      <p:regular r:id="rId33"/>
    </p:embeddedFont>
    <p:embeddedFont>
      <p:font typeface="Gelasio Bold" charset="-122"/>
      <p:regular r:id="rId34"/>
    </p:embeddedFont>
    <p:embeddedFont>
      <p:font typeface="Gelasio SemiBold" charset="-122"/>
      <p:regular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font" Target="fonts/font2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font" Target="fonts/font1.fntdata" /><Relationship Id="rId38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notesMaster" Target="notesMasters/notesMaster1.xml" /><Relationship Id="rId37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C1A99-0F3E-7443-B205-03097CEDBA95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215E0C-83EF-AC43-8299-4641FF486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1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5.jpeg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0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3.svg" /><Relationship Id="rId4" Type="http://schemas.openxmlformats.org/officeDocument/2006/relationships/image" Target="../media/image22.sv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6.sv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1.svg" /><Relationship Id="rId4" Type="http://schemas.openxmlformats.org/officeDocument/2006/relationships/image" Target="../media/image30.sv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3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5.sv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Advanced Use Cases for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chef-client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and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Commands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Deep-dive techniques for infrastructure engineers ready to go beyond the basics and unlock the full power of the Chef ecosystem.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3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Agenda: What We'll Cover Today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518370"/>
            <a:ext cx="5339820" cy="2540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2663627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chef-client Deep Dives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7230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Lifecycle, flags, local mode, daemonization, audit, and encrypted data bags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90301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518370"/>
            <a:ext cx="5339919" cy="2540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90301" y="2663627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Mastery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190301" y="3072309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SSH fleets, Solr queries, exec scripting, bootstrap, vault, and custom plugins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Advanced Workflows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61475" y="485765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CI/CD integration, rolling deployments, debugging, performance, and security hardening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90301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0301" y="4303712"/>
            <a:ext cx="5339919" cy="2540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0301" y="444896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Real-World Case Study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190301" y="4857651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Fleet-wide patching strategy using knife and chef-client together at scale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7191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The Chef Ecosystem at a Glance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61475" y="1877120"/>
            <a:ext cx="6296860" cy="997446"/>
          </a:xfrm>
          <a:prstGeom prst="roundRect">
            <a:avLst>
              <a:gd name="adj" fmla="val 2620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35699" y="2051348"/>
            <a:ext cx="59484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 Workstation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35699" y="2419846"/>
            <a:ext cx="594841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Where engineers write cookbooks and run </a:t>
            </a:r>
            <a:r>
              <a:rPr lang="en-US" sz="13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</a:t>
            </a: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commands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61475" y="3035201"/>
            <a:ext cx="6296860" cy="984746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35699" y="3209429"/>
            <a:ext cx="59484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 Server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35699" y="3577927"/>
            <a:ext cx="59484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Central repository for cookbooks, roles, environments, and node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1475" y="4180582"/>
            <a:ext cx="6296860" cy="984746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5699" y="4354810"/>
            <a:ext cx="59484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chef-client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35699" y="4723309"/>
            <a:ext cx="59484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Agent running on each node, converging the system to the desired state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5325963"/>
            <a:ext cx="6296860" cy="984746"/>
          </a:xfrm>
          <a:prstGeom prst="roundRect">
            <a:avLst>
              <a:gd name="adj" fmla="val 265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5699" y="5500191"/>
            <a:ext cx="59484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99" y="5868690"/>
            <a:ext cx="59484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CLI bridge between workstation and Chef Server for orchestration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78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The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chef-client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Run Lifecycle in Depth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66528"/>
            <a:ext cx="10868745" cy="2876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780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Authenticate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99780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Connect and verify with Chef Server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382469" y="2886006"/>
            <a:ext cx="1642940" cy="294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Sync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3382469" y="3263860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Download cookbooks and attributes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65158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Compile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65158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Build the resource collection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47847" y="3121348"/>
            <a:ext cx="1642941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Converge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47847" y="3499203"/>
            <a:ext cx="1642941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Apply resources to reach desired state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040996" y="3038978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Handlers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040996" y="3416833"/>
            <a:ext cx="1642940" cy="47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Run notifications and handlers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61475" y="515520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Understanding each phase — especially compile vs. converge — is critical for debugging timing issues, controlling resource ordering, and writing robust cookbooks.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89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Advanced </a:t>
            </a:r>
            <a:r>
              <a:rPr lang="en-US" sz="29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chef-client</a:t>
            </a: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Flags: Beyond the Basics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3499"/>
            <a:ext cx="6936011" cy="390157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1306413"/>
            <a:ext cx="3565138" cy="11339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7191" y="1476077"/>
            <a:ext cx="314962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--why-run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8217191" y="1837730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Simulate a run without making changes — ideal for validating cookbook logic safely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2560340"/>
            <a:ext cx="3565138" cy="11339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7191" y="2730004"/>
            <a:ext cx="314962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--no-fork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8217191" y="3091656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Disable forking the chef-client process, useful in constrained or debugging environments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3814266"/>
            <a:ext cx="3565138" cy="11339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17191" y="3983930"/>
            <a:ext cx="314962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--json-attributes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8217191" y="4345583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Pass a JSON file of attributes at runtime to override cookbook defaults on the fly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1333" y="5068193"/>
            <a:ext cx="3565138" cy="11339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17191" y="5237857"/>
            <a:ext cx="314962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--log-level debug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8217191" y="5599509"/>
            <a:ext cx="3149620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Enable verbose debug output to trace resource execution and attribute resolution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59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Local Mode with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--local-mode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909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What It Does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43386"/>
            <a:ext cx="5203794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chef-client --local-mode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(also known as Chef Zero) runs a full chef-client convergence entirely on the local machine — no Chef Server required. It spins up an in-memory Chef Server using the local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chef-repo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directory.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08017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Key Use Cases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56445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Rapid cookbook development and iteration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Testing in CI pipelines without server infrastructure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Bootstrapping standalone or air-gapped nodes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182713"/>
            <a:ext cx="5203794" cy="1360884"/>
          </a:xfrm>
          <a:prstGeom prst="roundRect">
            <a:avLst>
              <a:gd name="adj" fmla="val 2083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2456755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024" y="2400002"/>
            <a:ext cx="4400539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Pair </a:t>
            </a:r>
            <a:r>
              <a:rPr lang="en-US" sz="145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--local-mode</a:t>
            </a: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with Test Kitchen for a complete local testing workflow before promoting cookbooks to production Chef Server.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332776" y="375622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Example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332776" y="4264124"/>
            <a:ext cx="5203794" cy="1285280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59584" y="4453136"/>
            <a:ext cx="47501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chef-client --local-mode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--runlist "recipe[myapp::deploy]"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--json-attributes node.json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998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--override-runlist</a:t>
            </a:r>
            <a:r>
              <a:rPr lang="en-US" sz="3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for Targeted Deployments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22091"/>
            <a:ext cx="6918350" cy="33817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5254" y="3285645"/>
            <a:ext cx="161286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Override Runlist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47533" y="2511451"/>
            <a:ext cx="1612862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Specify Recipe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43100" y="4102849"/>
            <a:ext cx="161286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Single Run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973765" y="4891379"/>
            <a:ext cx="1612863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No Stored Change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4074" y="1482229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Why Use It?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004074" y="1905000"/>
            <a:ext cx="3532397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The </a:t>
            </a:r>
            <a:r>
              <a:rPr lang="en-US" sz="13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--override-runlist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flag temporarily replaces the node's stored run list for a single chef-client execution — without permanently modifying node data on the Chef Server.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4074" y="3108722"/>
            <a:ext cx="3532397" cy="167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Emergency hotfix deployments to specific nodes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Running one-off recipes during incident response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Testing a new recipe in isolation on a live node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04074" y="4959350"/>
            <a:ext cx="3532397" cy="1164927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09551" y="5130602"/>
            <a:ext cx="3121443" cy="82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chef-client \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--override-runlist "recipe[firewall::patch]"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700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Bootstrapping Nodes at Scale with Daemonization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34816"/>
            <a:ext cx="3053877" cy="2034480"/>
          </a:xfrm>
          <a:prstGeom prst="roundRect">
            <a:avLst>
              <a:gd name="adj" fmla="val 139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50482" y="2523827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Daemonize chef-client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0482" y="2932509"/>
            <a:ext cx="2675863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--daemonize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with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--interval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and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--splay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run chef-client as a background service on a scheduled interval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34816"/>
            <a:ext cx="3053976" cy="2034480"/>
          </a:xfrm>
          <a:prstGeom prst="roundRect">
            <a:avLst>
              <a:gd name="adj" fmla="val 139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93366" y="2523827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Splay for Safety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3366" y="2932509"/>
            <a:ext cx="2675962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Add random splay (e.g.,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--splay 60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) to stagger node check-ins and prevent thundering herd against Chef Server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558308"/>
            <a:ext cx="6296860" cy="1429643"/>
          </a:xfrm>
          <a:prstGeom prst="roundRect">
            <a:avLst>
              <a:gd name="adj" fmla="val 198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0482" y="474732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Systemd Integration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156002"/>
            <a:ext cx="5918846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For modern Linux nodes, prefer a systemd timer unit over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--daemonize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for better process supervision and logging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017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Handling Failures Gracefully with Custom Exit Codes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185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Exit Code Conventions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021681"/>
            <a:ext cx="523266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chef-client returns predictable exit codes you can trap in shell scripts, CI pipelines, or monitoring systems: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161855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 Handlers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021681"/>
            <a:ext cx="52326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exception and report handlers to trigger custom logic on success or failure — send alerts to PagerDuty, post to Slack, or write structured logs.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3904" y="2928541"/>
            <a:ext cx="5232666" cy="1653679"/>
          </a:xfrm>
          <a:prstGeom prst="roundRect">
            <a:avLst>
              <a:gd name="adj" fmla="val 1500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2337" y="3093839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chef_handler 'MyFailureHandler' do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source 'handlers/failure.rb'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type  exception: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action :enable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07657"/>
            <a:ext cx="3526444" cy="12100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22017" y="5092005"/>
            <a:ext cx="30815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Exit 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22017" y="5437287"/>
            <a:ext cx="308155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Successful run with no changes applied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2576" y="4907657"/>
            <a:ext cx="3526444" cy="12100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3118" y="5092005"/>
            <a:ext cx="30815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Exit 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93118" y="5437287"/>
            <a:ext cx="3081558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Run failed — cookbook error or resource exception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3677" y="4907657"/>
            <a:ext cx="3526444" cy="12100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64219" y="5092005"/>
            <a:ext cx="30815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Exit 35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64219" y="5437287"/>
            <a:ext cx="3081558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Reboot required after successful convergence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89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Auditing and Compliance: </a:t>
            </a:r>
            <a:r>
              <a:rPr lang="en-US" sz="33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audit</a:t>
            </a: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Mode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57871"/>
            <a:ext cx="6920831" cy="3893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9411" y="1485702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What is Audit Mode?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999411" y="1898650"/>
            <a:ext cx="353706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Chef's audit mode integrates InSpec controls directly into the chef-client run, letting you validate node compliance after convergence — in the same execution cycle.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99411" y="3066951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Two Modes of Operation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3479899"/>
            <a:ext cx="3537060" cy="1083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audit-only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: Skip convergence, run InSpec profiles only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Append </a:t>
            </a:r>
            <a:r>
              <a:rPr lang="en-US" sz="13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--audit-mode enabled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run convergence then audit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99411" y="4732040"/>
            <a:ext cx="3537060" cy="1372394"/>
          </a:xfrm>
          <a:prstGeom prst="roundRect">
            <a:avLst>
              <a:gd name="adj" fmla="val 1840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82" y="4954588"/>
            <a:ext cx="210338" cy="1682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46291" y="4909046"/>
            <a:ext cx="2821909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Audit results are reported back to Chef Automate for centralized compliance dashboards across your fleet.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20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Encrypted Data Bags in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chef-client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Runs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60" y="1600696"/>
            <a:ext cx="6383575" cy="3788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7124" y="4357794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Decrypt &amp; Use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347307" y="4357794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Retrieve Encrypted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314884" y="4357794"/>
            <a:ext cx="1586812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Encrypt &amp; Store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602089"/>
            <a:ext cx="108687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Store secrets like API keys and passwords as encrypted data bag items. Access them in recipes using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Chef::EncryptedDataBagItem.load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with a secret key file distributed securely to nodes.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More Than Just a Swiss Army Knife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knife is the command-line interface that connects your Chef Workstation to the Chef Server — enabling node management, cookbook uploads, search queries, SSH orchestration, and extensible plugin workflows, all from a single powerful tool.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519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ssh</a:t>
            </a: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Commands Across Node Fleets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65052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Basic Pattern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1735336"/>
            <a:ext cx="3565138" cy="1023938"/>
          </a:xfrm>
          <a:prstGeom prst="roundRect">
            <a:avLst>
              <a:gd name="adj" fmla="val 2207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2148" y="1885950"/>
            <a:ext cx="3203793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ssh "role:webserver" \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"sudo chef-client" \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-x ubuntu -i ~/.ssh/id_rsa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894211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Key Options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3245445"/>
            <a:ext cx="3584188" cy="8327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184" y="3264495"/>
            <a:ext cx="337642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--concurrency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0184" y="3626148"/>
            <a:ext cx="337642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Control how many nodes run simultaneously to throttle impact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280098"/>
            <a:ext cx="3584188" cy="8327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184" y="4299148"/>
            <a:ext cx="337642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--ssh-gateway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50184" y="4660801"/>
            <a:ext cx="337642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Route commands through a bastion host for private subnet nodes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5314752"/>
            <a:ext cx="3584188" cy="8327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184" y="5333802"/>
            <a:ext cx="3376429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--no-host-key-verify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50184" y="5695454"/>
            <a:ext cx="337642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Skip host key checking in automated pipeline contexts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460" y="1803400"/>
            <a:ext cx="6936011" cy="39015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search</a:t>
            </a: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Powerful Solr Queries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23603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How It Works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1976735"/>
            <a:ext cx="5214609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knife search queries the Chef Server's Solr index, enabling precise targeting of nodes by any attribute, role, environment, or tag combination.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992834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Advanced Query Examples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61475" y="3467497"/>
            <a:ext cx="5214609" cy="2666008"/>
          </a:xfrm>
          <a:prstGeom prst="roundRect">
            <a:avLst>
              <a:gd name="adj" fmla="val 1014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568" y="3647579"/>
            <a:ext cx="4782423" cy="23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search node \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"role:webserver AND \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chef_environment:production \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AND platform:ubuntu"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search node \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"ipaddress:10.0.1.* AND \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NOT tags:maintenance"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1961" y="1545134"/>
            <a:ext cx="2521482" cy="1727597"/>
          </a:xfrm>
          <a:prstGeom prst="roundRect">
            <a:avLst>
              <a:gd name="adj" fmla="val 1564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27438" y="1750616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Attribute Search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527438" y="2203748"/>
            <a:ext cx="2110528" cy="863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Target nodes by any nested attribute: </a:t>
            </a:r>
            <a:r>
              <a:rPr lang="en-US" sz="14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kernel_machine:x86_64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15088" y="1545134"/>
            <a:ext cx="2521482" cy="1727597"/>
          </a:xfrm>
          <a:prstGeom prst="roundRect">
            <a:avLst>
              <a:gd name="adj" fmla="val 1564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20565" y="1750616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Boolean Logic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220565" y="2203748"/>
            <a:ext cx="2110528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Combine with AND, OR, NOT for complex node selection criteria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1961" y="3444379"/>
            <a:ext cx="5214609" cy="1446113"/>
          </a:xfrm>
          <a:prstGeom prst="roundRect">
            <a:avLst>
              <a:gd name="adj" fmla="val 1869"/>
            </a:avLst>
          </a:prstGeom>
          <a:solidFill>
            <a:srgbClr val="F9F6F0"/>
          </a:solidFill>
          <a:ln w="25399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27438" y="3649861"/>
            <a:ext cx="480365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Output Filtering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527438" y="4102993"/>
            <a:ext cx="4803655" cy="582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</a:t>
            </a:r>
            <a:r>
              <a:rPr lang="en-US" sz="14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-a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return only specific attributes — faster and cleaner output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881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exec</a:t>
            </a:r>
            <a:r>
              <a:rPr lang="en-US" sz="31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Scripting with Ruby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0387"/>
            <a:ext cx="6928470" cy="3897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5421" y="1493540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What Makes It Powerful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85421" y="1877219"/>
            <a:ext cx="3551049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exec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lets you run arbitrary Ruby scripts with full access to the Chef Server API and the knife environment — enabling bulk operations no single knife subcommand can accomplish alone.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85421" y="2971403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Example: Bulk Attribute Update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85421" y="3371850"/>
            <a:ext cx="3551049" cy="1849438"/>
          </a:xfrm>
          <a:prstGeom prst="roundRect">
            <a:avLst>
              <a:gd name="adj" fmla="val 1294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76710" y="3531295"/>
            <a:ext cx="3168472" cy="1530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exec -E '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nodes.all do |n|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n.set["app"]["version"] = "2.1.0"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n.save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end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'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85421" y="5372596"/>
            <a:ext cx="3551049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for mass node attribute updates, automated cleanup, or generating custom reports from node data.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597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bootstrap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Zero-Touch Node Provisioning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45296"/>
            <a:ext cx="10868745" cy="1890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948138"/>
            <a:ext cx="108687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Advanced flags like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--bootstrap-version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,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--run-list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,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--environment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,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--secret-file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, and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--policy-name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enable fully automated, policy-driven node provisioning with zero manual steps.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27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vault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Secrets Management at Scale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589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Beyond Encrypted Data Bags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40186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knife vault combines Chef data bags with RSA public key encryption per node. Each authorized node or user can decrypt only what they're granted access to — no shared secret key required.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862487"/>
            <a:ext cx="5203794" cy="1890117"/>
          </a:xfrm>
          <a:prstGeom prst="roundRect">
            <a:avLst>
              <a:gd name="adj" fmla="val 1500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8283" y="4051498"/>
            <a:ext cx="475017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vault create secrets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db_password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'{"password":"s3cr3t"}'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--search "role:database"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--admins "admin1"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1979513"/>
            <a:ext cx="2507394" cy="2071985"/>
          </a:xfrm>
          <a:prstGeom prst="roundRect">
            <a:avLst>
              <a:gd name="adj" fmla="val 136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21783" y="2168525"/>
            <a:ext cx="21293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Per-Node Encryption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21783" y="2948087"/>
            <a:ext cx="21293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Each node decrypts with its own private key — no shared secret exposure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1979513"/>
            <a:ext cx="2507394" cy="2071985"/>
          </a:xfrm>
          <a:prstGeom prst="roundRect">
            <a:avLst>
              <a:gd name="adj" fmla="val 1368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18183" y="2168525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Dynamic Access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218183" y="2652812"/>
            <a:ext cx="21293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Add or remove node access without re-encrypting the entire vault item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32776" y="4240510"/>
            <a:ext cx="5203794" cy="1467148"/>
          </a:xfrm>
          <a:prstGeom prst="roundRect">
            <a:avLst>
              <a:gd name="adj" fmla="val 193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21783" y="4429522"/>
            <a:ext cx="48257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Admin Control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521783" y="4913809"/>
            <a:ext cx="48257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Human admins can also be granted access via Chef Server user keys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986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data bag</a:t>
            </a: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Creating and Encrypting Sensitive Data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87264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61475" y="1503958"/>
            <a:ext cx="3583989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475" y="1611412"/>
            <a:ext cx="358398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Create the Bag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475" y="1942902"/>
            <a:ext cx="3583989" cy="499666"/>
          </a:xfrm>
          <a:prstGeom prst="roundRect">
            <a:avLst>
              <a:gd name="adj" fmla="val 4167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7960" y="2081709"/>
            <a:ext cx="325101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data bag create credentials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648545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1475" y="2865239"/>
            <a:ext cx="3583989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475" y="2972693"/>
            <a:ext cx="358398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Add Encrypted Item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304183"/>
            <a:ext cx="3583989" cy="943769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7960" y="3442990"/>
            <a:ext cx="3251019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data bag from file \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credentials api_key.json \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--secret-file ~/.chef/secret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475" y="4453930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03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4670623"/>
            <a:ext cx="3583989" cy="1905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1475" y="4778077"/>
            <a:ext cx="358398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Access in Recipe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61475" y="5109567"/>
            <a:ext cx="3583989" cy="943769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7960" y="5248374"/>
            <a:ext cx="3251019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secret = Chef::EncryptedDataBagItem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.load("credentials","api_key",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secret_key)</a:t>
            </a:r>
            <a:endParaRPr lang="en-US" sz="10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340" y="1768673"/>
            <a:ext cx="6946131" cy="39072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7210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environment</a:t>
            </a:r>
            <a:r>
              <a:rPr lang="en-US" sz="3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Managing Multi-Stage Pipelines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12330"/>
            <a:ext cx="6933530" cy="3900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5996" y="1488976"/>
            <a:ext cx="356047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Environments as Gates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975996" y="1853605"/>
            <a:ext cx="3560475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Chef environments pin cookbook versions per stage, preventing unvalidated changes from reaching production. knife makes environment management scriptable and CI-friendly.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975996" y="2884488"/>
            <a:ext cx="3560475" cy="2026642"/>
          </a:xfrm>
          <a:prstGeom prst="roundRect">
            <a:avLst>
              <a:gd name="adj" fmla="val 1137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60240" y="3037979"/>
            <a:ext cx="3191986" cy="1719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environment edit production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environment from file \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environments/staging.json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environment set \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production myapp 3.2.1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75996" y="5051425"/>
            <a:ext cx="3560475" cy="968970"/>
          </a:xfrm>
          <a:prstGeom prst="roundRect">
            <a:avLst>
              <a:gd name="adj" fmla="val 2377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483" y="5232499"/>
            <a:ext cx="191884" cy="1534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74855" y="5201940"/>
            <a:ext cx="2908128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Combine environment version constraints with a promotion script to implement true blue/green cookbook promotion pipelines.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66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role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Reusable Node Configurations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5311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805311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Define Once, Apply Everywhere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509268"/>
            <a:ext cx="275672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Roles encapsulate a run list and attribute defaults. Any node assigned the role inherits the full configuration — keeping node objects lean and DRY.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805311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805311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Role Nesting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213993"/>
            <a:ext cx="2756724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Roles can include other roles in their run lists, enabling layered configuration like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base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→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webserver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→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app-tier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805311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805311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Managing with knife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213993"/>
            <a:ext cx="2756724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role from file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version-control roles as JSON and push updates consistently across all environments.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361"/>
            <a:ext cx="10868745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diff</a:t>
            </a:r>
            <a:r>
              <a:rPr lang="en-US" sz="3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and </a:t>
            </a:r>
            <a:r>
              <a:rPr lang="en-US" sz="36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upload</a:t>
            </a:r>
            <a:r>
              <a:rPr lang="en-US" sz="3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Keeping Repos in Sync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2126059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diff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589411"/>
            <a:ext cx="521103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Compares your local chef-repo against what's currently on the Chef Server — showing exactly what has changed before you push anything.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475" y="3654227"/>
            <a:ext cx="5211037" cy="952103"/>
          </a:xfrm>
          <a:prstGeom prst="roundRect">
            <a:avLst>
              <a:gd name="adj" fmla="val 2885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1140" y="3837285"/>
            <a:ext cx="4771707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diff cookbooks/myapp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diff roles/ environments/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5533" y="2126059"/>
            <a:ext cx="5211037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upload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25533" y="2589411"/>
            <a:ext cx="5211037" cy="88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Pushes local changes to the Chef Server selectively or in bulk. Pair with </a:t>
            </a:r>
            <a:r>
              <a:rPr lang="en-US" sz="14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diff</a:t>
            </a: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in CI pipelines for a safe, auditable promotion workflow.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5533" y="3673277"/>
            <a:ext cx="5211037" cy="952103"/>
          </a:xfrm>
          <a:prstGeom prst="roundRect">
            <a:avLst>
              <a:gd name="adj" fmla="val 2885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45198" y="3856335"/>
            <a:ext cx="4771707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upload cookbooks/myapp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upload --all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5533" y="4824909"/>
            <a:ext cx="5211037" cy="1295102"/>
          </a:xfrm>
          <a:prstGeom prst="roundRect">
            <a:avLst>
              <a:gd name="adj" fmla="val 2121"/>
            </a:avLst>
          </a:prstGeom>
          <a:solidFill>
            <a:srgbClr val="ECE6D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7" y="5084564"/>
            <a:ext cx="228793" cy="1830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20434" y="5030291"/>
            <a:ext cx="4433082" cy="88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Always run </a:t>
            </a:r>
            <a:r>
              <a:rPr lang="en-US" sz="140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diff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before </a:t>
            </a:r>
            <a:r>
              <a:rPr lang="en-US" sz="140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upload</a:t>
            </a: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in automated pipelines to prevent unintended overwrites.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8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tag</a:t>
            </a: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and </a:t>
            </a:r>
            <a:r>
              <a:rPr lang="en-US" sz="27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node</a:t>
            </a: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: Dynamic Targeting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97880"/>
            <a:ext cx="5261439" cy="1399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8403" y="1458615"/>
            <a:ext cx="48637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Add / Remove Tags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898403" y="1799630"/>
            <a:ext cx="4863780" cy="736997"/>
          </a:xfrm>
          <a:prstGeom prst="roundRect">
            <a:avLst>
              <a:gd name="adj" fmla="val 2885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8460" y="1941314"/>
            <a:ext cx="452366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tag create web-01 maintenance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tag delete web-01 maintenance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03624"/>
            <a:ext cx="5261439" cy="16262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8403" y="2964359"/>
            <a:ext cx="48637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Search by Tag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98403" y="3305373"/>
            <a:ext cx="4863780" cy="963811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068460" y="3447058"/>
            <a:ext cx="452366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search node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"tags:maintenance"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-a name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36182"/>
            <a:ext cx="5261439" cy="16262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8403" y="4696916"/>
            <a:ext cx="48637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Edit Node Attributes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898403" y="5037931"/>
            <a:ext cx="4863780" cy="963811"/>
          </a:xfrm>
          <a:prstGeom prst="roundRect">
            <a:avLst>
              <a:gd name="adj" fmla="val 2206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1068460" y="5179616"/>
            <a:ext cx="452366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node edit web-01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node run_list add web-01 \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"recipe[nginx]"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275131" y="1284585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Dynamic Fleet Segmentation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275131" y="1612305"/>
            <a:ext cx="5261439" cy="608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Tags transform static node lists into dynamic, intent-driven groups. Tag nodes for maintenance windows, canary cohorts, or feature flags — then use </a:t>
            </a:r>
            <a:r>
              <a:rPr lang="en-US" sz="11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search</a:t>
            </a: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target them precisely without modifying roles or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316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Building Custom </a:t>
            </a:r>
            <a:r>
              <a:rPr lang="en-US" sz="31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</a:t>
            </a:r>
            <a:r>
              <a:rPr lang="en-US" sz="31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Plugins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0387"/>
            <a:ext cx="6928470" cy="3897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5421" y="1366044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Why Build Custom Plugins?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85421" y="1749723"/>
            <a:ext cx="3551049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When built-in knife subcommands don't fit your organizational workflow, you can extend knife with Ruby-based plugins packaged as gems or dropped into </a:t>
            </a:r>
            <a:r>
              <a:rPr lang="en-US" sz="12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~/.chef/plugins/knife/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85421" y="2843907"/>
            <a:ext cx="355104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Plugin Skeleton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85421" y="3244354"/>
            <a:ext cx="3551049" cy="2104529"/>
          </a:xfrm>
          <a:prstGeom prst="roundRect">
            <a:avLst>
              <a:gd name="adj" fmla="val 1137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76710" y="3403798"/>
            <a:ext cx="3168472" cy="178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class Chef::Knife::MyCommand \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&lt; Chef::Knife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banner "knife my command [args]"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def run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  ui.msg "Hello from my plugin!"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end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85421" y="5500191"/>
            <a:ext cx="3551049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Custom plugins can call Chef Server APIs, parse node data, and trigger external systems — all with knife's built-in authentication context.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22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Integrating </a:t>
            </a:r>
            <a:r>
              <a:rPr lang="en-US" sz="370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</a:t>
            </a: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with CI/CD Pipelines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560909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204953"/>
            <a:ext cx="1586817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environment set → Prod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357797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upload → Staging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204953"/>
            <a:ext cx="1586817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CI: knife diff + Test Kitchen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510641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Push to Git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41876"/>
            <a:ext cx="108687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 real-world pipeline keeps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.chef/knife.rb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and credentials in CI secrets, uses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diff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as a gate, and treats environment version pinning as the production promotion step.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3752"/>
            <a:ext cx="10868745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Rolling Deployments with </a:t>
            </a:r>
            <a:r>
              <a:rPr lang="en-US" sz="36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search</a:t>
            </a:r>
            <a:r>
              <a:rPr lang="en-US" sz="3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 + </a:t>
            </a:r>
            <a:r>
              <a:rPr lang="en-US" sz="3650" b="1" dirty="0">
                <a:solidFill>
                  <a:srgbClr val="484237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knife ssh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274491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The Pattern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748359"/>
            <a:ext cx="52074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Combine a targeted search query with a concurrency-limited SSH command to execute rolling chef-client runs across a fleet — batch by batch — without taking down the whole tier at once.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840163"/>
            <a:ext cx="5207465" cy="2158008"/>
          </a:xfrm>
          <a:prstGeom prst="roundRect">
            <a:avLst>
              <a:gd name="adj" fmla="val 1293"/>
            </a:avLst>
          </a:prstGeom>
          <a:solidFill>
            <a:srgbClr val="ECE9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4711" y="4026198"/>
            <a:ext cx="4760992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knife ssh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"role:webserver AND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chef_environment:production"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"sudo chef-client"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--concurrency 5 \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  -x ubuntu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29105" y="2297311"/>
            <a:ext cx="2512156" cy="1750814"/>
          </a:xfrm>
          <a:prstGeom prst="roundRect">
            <a:avLst>
              <a:gd name="adj" fmla="val 159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5135" y="2483346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Batch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5135" y="2957215"/>
            <a:ext cx="2140095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--concurrency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control how many nodes converge simultaneously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4414" y="2297311"/>
            <a:ext cx="2512156" cy="1750814"/>
          </a:xfrm>
          <a:prstGeom prst="roundRect">
            <a:avLst>
              <a:gd name="adj" fmla="val 1594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10445" y="2483346"/>
            <a:ext cx="21400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Health Checks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10445" y="2957215"/>
            <a:ext cx="214009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Script a health check between batches to halt if error rate spikes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29105" y="4231283"/>
            <a:ext cx="5207465" cy="1160264"/>
          </a:xfrm>
          <a:prstGeom prst="roundRect">
            <a:avLst>
              <a:gd name="adj" fmla="val 2405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5135" y="4417318"/>
            <a:ext cx="48354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Canary First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5135" y="4891187"/>
            <a:ext cx="483540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Tag one node </a:t>
            </a:r>
            <a:r>
              <a:rPr lang="en-US" sz="14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canary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and target it first before the full fleet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494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Debugging Chef Runs: Verbose Modes and Logs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0872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chef-client Debug Flags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2791222"/>
            <a:ext cx="2509179" cy="1751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281" y="2816622"/>
            <a:ext cx="22439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--log-level debug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01281" y="3307259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Prints every resource action, attribute resolution, and provider decision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6089" y="2791222"/>
            <a:ext cx="2509179" cy="1751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21295" y="2816622"/>
            <a:ext cx="2243974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--log-file /tmp/chef.log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621295" y="3608884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Redirect output to a persistent file for post-run analysis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4869557"/>
            <a:ext cx="5229193" cy="11462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281" y="4894957"/>
            <a:ext cx="496398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--why-run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01281" y="5385594"/>
            <a:ext cx="496398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Dry-run mode — see what would change without applying anything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332776" y="230872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Debugging</a:t>
            </a:r>
            <a:endParaRPr lang="en-US" sz="1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377" y="2791222"/>
            <a:ext cx="2509179" cy="17511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72582" y="2816622"/>
            <a:ext cx="22439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node show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72582" y="3307259"/>
            <a:ext cx="22439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Inspect the full merged attribute set as Chef Server sees it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7391" y="2791222"/>
            <a:ext cx="2509179" cy="17511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92596" y="2816622"/>
            <a:ext cx="224397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status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9292596" y="3307259"/>
            <a:ext cx="224397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Quickly identify nodes that haven't checked in recently — potential failures</a:t>
            </a:r>
            <a:endParaRPr lang="en-US" sz="14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377" y="4869557"/>
            <a:ext cx="5229193" cy="113992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72582" y="4894957"/>
            <a:ext cx="496398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Chef Automate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572582" y="5379244"/>
            <a:ext cx="496398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Correlate run history, timing, and failures across all nodes in a visual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58638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Performance Tuning: Reducing Convergence Times</a:t>
            </a:r>
            <a:endParaRPr lang="en-US" sz="2950" dirty="0"/>
          </a:p>
        </p:txBody>
      </p:sp>
      <p:sp>
        <p:nvSpPr>
          <p:cNvPr id="6" name="Shape 2"/>
          <p:cNvSpPr/>
          <p:nvPr/>
        </p:nvSpPr>
        <p:spPr>
          <a:xfrm>
            <a:off x="5233360" y="1707555"/>
            <a:ext cx="6296860" cy="1054199"/>
          </a:xfrm>
          <a:prstGeom prst="roundRect">
            <a:avLst>
              <a:gd name="adj" fmla="val 214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383971" y="1858169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Lazy Attribute Evaluation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383971" y="2165449"/>
            <a:ext cx="599563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 </a:t>
            </a:r>
            <a:r>
              <a:rPr lang="en-US" sz="11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lazy {}</a:t>
            </a: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blocks to defer expensive attribute computation until the converge phase only when actually needed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33360" y="2881709"/>
            <a:ext cx="6296860" cy="1054199"/>
          </a:xfrm>
          <a:prstGeom prst="roundRect">
            <a:avLst>
              <a:gd name="adj" fmla="val 214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383971" y="3032323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Cookbook Dependency Pruning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383971" y="3339604"/>
            <a:ext cx="599563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Audit </a:t>
            </a:r>
            <a:r>
              <a:rPr lang="en-US" sz="11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Berksfile.lock</a:t>
            </a: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regularly — unnecessary transitive dependencies inflate cookbook sync time significantly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233360" y="4055864"/>
            <a:ext cx="6296860" cy="1041499"/>
          </a:xfrm>
          <a:prstGeom prst="roundRect">
            <a:avLst>
              <a:gd name="adj" fmla="val 216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383971" y="4206478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Policyfiles over Roles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83971" y="4513759"/>
            <a:ext cx="59956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Policyfiles resolve dependencies at authoring time, eliminating per-run solver overhead on the Chef Server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233360" y="5217319"/>
            <a:ext cx="6296860" cy="1054199"/>
          </a:xfrm>
          <a:prstGeom prst="roundRect">
            <a:avLst>
              <a:gd name="adj" fmla="val 2143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383971" y="5367933"/>
            <a:ext cx="59956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Ohai Optimization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383971" y="5675213"/>
            <a:ext cx="5995639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Disable unused Ohai plugins with </a:t>
            </a:r>
            <a:r>
              <a:rPr lang="en-US" sz="11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ohai.disabled_plugins</a:t>
            </a: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to reduce node attribute collection time at run start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398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Security Hardening: Locking Down chef-client and knife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1259"/>
            <a:ext cx="6931050" cy="38988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80659" y="1577082"/>
            <a:ext cx="35558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Key Hardening Practices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296" y="1972221"/>
            <a:ext cx="234746" cy="234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89242" y="1967409"/>
            <a:ext cx="304722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Restrict knife.rb Permissions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489242" y="2341563"/>
            <a:ext cx="3047229" cy="699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Set </a:t>
            </a:r>
            <a:r>
              <a:rPr lang="en-US" sz="12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chmod 600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on </a:t>
            </a:r>
            <a:r>
              <a:rPr lang="en-US" sz="12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~/.chef/knife.rb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and all PEM key files — never commit them to version control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296" y="3305026"/>
            <a:ext cx="234746" cy="234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89242" y="3300214"/>
            <a:ext cx="304722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Use Validator-less Bootstrap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489242" y="3674368"/>
            <a:ext cx="3047229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Retire the shared </a:t>
            </a:r>
            <a:r>
              <a:rPr lang="en-US" sz="12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validator.pem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— use node-specific keys via </a:t>
            </a:r>
            <a:r>
              <a:rPr lang="en-US" sz="12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--bootstrap-no-validator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for zero shared-secret bootstrapping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296" y="4892129"/>
            <a:ext cx="234746" cy="234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89242" y="4887317"/>
            <a:ext cx="3047229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Audit Access Controls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489242" y="5261471"/>
            <a:ext cx="3047229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Apply Chef Server RBAC to restrict which users can upload cookbooks, edit environments, or delete nodes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241"/>
            <a:ext cx="10868745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Case Study: Fleet-Wide Patching with knife + chef-client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68898"/>
            <a:ext cx="6920831" cy="2597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3418" y="4634945"/>
            <a:ext cx="1043857" cy="40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Validate Convergence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37872" y="4634945"/>
            <a:ext cx="1043857" cy="40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Report Status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9476" y="4634945"/>
            <a:ext cx="1043857" cy="40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Trigger Patch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21080" y="4634945"/>
            <a:ext cx="1043857" cy="402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Identify Cohort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4085" y="4735490"/>
            <a:ext cx="1043857" cy="20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Tag Nodes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99411" y="2082105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Scenario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999411" y="2495054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Emergency OS patch across 500 production nodes across three environments — with zero downtime and full auditability.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99411" y="3393777"/>
            <a:ext cx="3537060" cy="2029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Tag nodes for maintenance with </a:t>
            </a:r>
            <a:r>
              <a:rPr lang="en-US" sz="13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tag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Target with precise Solr query excluding canary nodes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Roll in batches of 10 with </a:t>
            </a:r>
            <a:r>
              <a:rPr lang="en-US" sz="13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--concurrency 10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Chef handler posts Slack alert on any failure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Validate completion with </a:t>
            </a:r>
            <a:r>
              <a:rPr lang="en-US" sz="130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knife status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99411" y="5558532"/>
            <a:ext cx="35370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0"/>
              </a:rPr>
              <a:t>Result:</a:t>
            </a: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 500 nodes patched in 22 minutes with full Chef Server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4392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Key Takeaways, Next Steps &amp; Q&amp;A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61475" y="1681361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14962" y="183485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Master the Lifecycle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4962" y="2149574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Deep knowledge of chef-client phases unlocks smarter debugging and more reliable cookbook authoring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1475" y="2873077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4962" y="3026569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knife is an Orchestrator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4962" y="3341291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Used well, knife + search + ssh becomes a powerful fleet automation engine — not just a management CLI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1475" y="4064794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4962" y="4218285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Security and Secrets First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4962" y="4533007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vault, per-node keys, and RBAC are not optional — make them foundational from day one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1475" y="5256510"/>
            <a:ext cx="6296860" cy="1066998"/>
          </a:xfrm>
          <a:prstGeom prst="roundRect">
            <a:avLst>
              <a:gd name="adj" fmla="val 215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14962" y="5410002"/>
            <a:ext cx="5989885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0"/>
              </a:rPr>
              <a:t>Automate Everything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4962" y="5724723"/>
            <a:ext cx="598988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0"/>
              </a:rPr>
              <a:t>Invest in CI/CD pipeline integration to make cookbook promotion safe, auditable, and repeatable at scale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2026-10-25T20:25:17Z</dcterms:created>
  <dcterms:modified xsi:type="dcterms:W3CDTF">2026-10-25T20:25:37Z</dcterms:modified>
</cp:coreProperties>
</file>