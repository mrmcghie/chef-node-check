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Saira Condensed SemiBold" charset="-122"/>
      <p:regular r:id="rId13"/>
    </p:embeddedFont>
    <p:embeddedFont>
      <p:font typeface="Spline Sans Mono" charset="-122"/>
      <p:regular r:id="rId14"/>
    </p:embeddedFont>
    <p:embeddedFont>
      <p:font typeface="Spline Sans Mono Medium" charset="-122"/>
      <p:regular r:id="rId15"/>
    </p:embeddedFont>
    <p:embeddedFont>
      <p:font typeface="Spline Sans Mono Bold" panose="02060609030502080104" pitchFamily="49" charset="0"/>
      <p:regular r:id="rId16"/>
    </p:embeddedFont>
    <p:embeddedFont>
      <p:font typeface="Spline Sans Mono SemiBold" panose="02060609030502080104" pitchFamily="49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1.fntdata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17" Type="http://schemas.openxmlformats.org/officeDocument/2006/relationships/font" Target="fonts/font5.fntdata" /><Relationship Id="rId2" Type="http://schemas.openxmlformats.org/officeDocument/2006/relationships/slide" Target="slides/slide1.xml" /><Relationship Id="rId16" Type="http://schemas.openxmlformats.org/officeDocument/2006/relationships/font" Target="fonts/font4.fntdata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3.fntdata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2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0715-C8F1-9846-A7F2-FD31A9327AA2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D28A71-13D2-EB40-B84F-C6B080B93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74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806" y="494982"/>
            <a:ext cx="1105507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4C6378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PLATFORM ENGINEERING · VMWARE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58806" y="811133"/>
            <a:ext cx="10445489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800" kern="100" spc="-24" dirty="0">
                <a:solidFill>
                  <a:srgbClr val="A51F2F"/>
                </a:solidFill>
                <a:latin typeface="Saira Condensed SemiBold" pitchFamily="34" charset="0"/>
                <a:ea typeface="Saira Condensed SemiBold" pitchFamily="34" charset="-122"/>
                <a:cs typeface="Saira Condensed SemiBold" pitchFamily="34" charset="0"/>
              </a:rPr>
              <a:t>Building Servers from Vault Secrets</a:t>
            </a:r>
            <a:endParaRPr lang="en-US" sz="48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4800" kern="100" spc="-24" dirty="0">
                <a:solidFill>
                  <a:srgbClr val="A51F2F"/>
                </a:solidFill>
                <a:latin typeface="Saira Condensed SemiBold" pitchFamily="34" charset="0"/>
                <a:ea typeface="Saira Condensed SemiBold" pitchFamily="34" charset="-122"/>
                <a:cs typeface="Saira Condensed SemiBold" pitchFamily="34" charset="0"/>
              </a:rPr>
              <a:t>with Terraform and Chef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758806" y="2273498"/>
            <a:ext cx="3446972" cy="12601"/>
          </a:xfrm>
          <a:prstGeom prst="roundRect">
            <a:avLst>
              <a:gd name="adj" fmla="val 49998"/>
            </a:avLst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58806" y="2504638"/>
            <a:ext cx="10445489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A hands-on guide for platform engineers on VMware,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ending with a reference build for an Ansible control node.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4C6378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PIPELINE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418"/>
            <a:ext cx="1097252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22" dirty="0">
                <a:solidFill>
                  <a:srgbClr val="A51F2F"/>
                </a:solidFill>
                <a:latin typeface="Saira Condensed SemiBold" pitchFamily="34" charset="0"/>
                <a:ea typeface="Saira Condensed SemiBold" pitchFamily="34" charset="-122"/>
                <a:cs typeface="Saira Condensed SemiBold" pitchFamily="34" charset="0"/>
              </a:rPr>
              <a:t>Secrets come first, so the pipeline is built around Vault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707059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585" y="1938199"/>
            <a:ext cx="10972526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Establish policy and authentication before creating machines. Each stage receives only the access it needs; the server retrieves its own runtime secrets.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3301702"/>
            <a:ext cx="838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A51F2F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0"/>
              </a:rPr>
              <a:t>01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5" y="3568402"/>
            <a:ext cx="2514537" cy="19050"/>
          </a:xfrm>
          <a:prstGeom prst="rect">
            <a:avLst/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9585" y="3708420"/>
            <a:ext cx="251453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Vault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585" y="4136390"/>
            <a:ext cx="2514537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Holds secrets. Define narrow policies, auth roles and credential lifetimes.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8914" y="3301702"/>
            <a:ext cx="838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A51F2F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0"/>
              </a:rPr>
              <a:t>02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28914" y="3568402"/>
            <a:ext cx="2514537" cy="19050"/>
          </a:xfrm>
          <a:prstGeom prst="rect">
            <a:avLst/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8914" y="3708420"/>
            <a:ext cx="251453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Terraform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8914" y="4136390"/>
            <a:ext cx="2514537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Creates VMware machines from a hardened, versioned template.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48244" y="3301702"/>
            <a:ext cx="838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A51F2F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0"/>
              </a:rPr>
              <a:t>03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48244" y="3568402"/>
            <a:ext cx="2514537" cy="19050"/>
          </a:xfrm>
          <a:prstGeom prst="rect">
            <a:avLst/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48244" y="3708420"/>
            <a:ext cx="251453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Chef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48244" y="4136390"/>
            <a:ext cx="2514537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Shapes the operating system and applications using pinned cookbooks.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67573" y="3301702"/>
            <a:ext cx="838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A51F2F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0"/>
              </a:rPr>
              <a:t>04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067573" y="3568402"/>
            <a:ext cx="2514537" cy="19050"/>
          </a:xfrm>
          <a:prstGeom prst="rect">
            <a:avLst/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67573" y="3708420"/>
            <a:ext cx="251453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Workloads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67573" y="4136390"/>
            <a:ext cx="2514537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Run on the configured server with scoped, short-lived access.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9585" y="6031746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3" dirty="0">
                <a:solidFill>
                  <a:srgbClr val="4C637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No secrets in Git · Least privilege · Short-lived credentials · Reproducible builds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75182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4C6378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IDENTITY AND ACCESS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418"/>
            <a:ext cx="6908627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22" dirty="0">
                <a:solidFill>
                  <a:srgbClr val="A51F2F"/>
                </a:solidFill>
                <a:latin typeface="Saira Condensed SemiBold" pitchFamily="34" charset="0"/>
                <a:ea typeface="Saira Condensed SemiBold" pitchFamily="34" charset="-122"/>
                <a:cs typeface="Saira Condensed SemiBold" pitchFamily="34" charset="0"/>
              </a:rPr>
              <a:t>Give every tool its own Vault identity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293739"/>
            <a:ext cx="6908528" cy="12601"/>
          </a:xfrm>
          <a:prstGeom prst="roundRect">
            <a:avLst>
              <a:gd name="adj" fmla="val 49998"/>
            </a:avLst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585" y="2523927"/>
            <a:ext cx="6908627" cy="2818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Authenticate Terraform runs with AppRole or the CI platform’s JWT/OIDC identity. Never share a root token.</a:t>
            </a:r>
            <a:endParaRPr lang="en-US" sz="1500" dirty="0"/>
          </a:p>
          <a:p>
            <a:pPr marL="304800" indent="-304800" algn="l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Write one narrow policy per role. Grant access only to the secret paths and operations that tool needs.</a:t>
            </a:r>
            <a:endParaRPr lang="en-US" sz="1500" dirty="0"/>
          </a:p>
          <a:p>
            <a:pPr marL="304800" indent="-304800" algn="l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Keep token time-to-live (TTL) short; enable renewal only when a workload requires it.</a:t>
            </a:r>
            <a:endParaRPr lang="en-US" sz="1500" dirty="0"/>
          </a:p>
          <a:p>
            <a:pPr marL="304800" indent="-304800" algn="l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Response-wrap a SecretID for delivery to a new server. The wrapping token permits a single unwrap before expiry.</a:t>
            </a:r>
            <a:endParaRPr lang="en-US" sz="1500" dirty="0"/>
          </a:p>
          <a:p>
            <a:pPr marL="304800" indent="-304800" algn="l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Enable audit logging from day one and protect access to the audit destination.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381" y="609600"/>
            <a:ext cx="2844729" cy="49391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37381" y="5808901"/>
            <a:ext cx="2844729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4C637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Separate identities.</a:t>
            </a:r>
            <a:endParaRPr lang="en-US" sz="13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4C637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Independent revocation.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4C6378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INFRASTRUCTURE PROVISIONING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418"/>
            <a:ext cx="10972526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22" dirty="0">
                <a:solidFill>
                  <a:srgbClr val="A51F2F"/>
                </a:solidFill>
                <a:latin typeface="Saira Condensed SemiBold" pitchFamily="34" charset="0"/>
                <a:ea typeface="Saira Condensed SemiBold" pitchFamily="34" charset="-122"/>
                <a:cs typeface="Saira Condensed SemiBold" pitchFamily="34" charset="0"/>
              </a:rPr>
              <a:t>Terraform: provision VMware servers without leaking secrets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293739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585" y="2530594"/>
            <a:ext cx="525766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Protect the state boundary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2957612"/>
            <a:ext cx="5257668" cy="2213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Use the vSphere provider with a remote, encrypted, access-controlled state backend. Separate state per environment and restrict access to saved plans as well.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Values read from Vault can land in state. Mark outputs sensitive, but remember that this hides display output; it does not remove stored values.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24442" y="2530594"/>
            <a:ext cx="525766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Minimize what Terraform handles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24442" y="2957612"/>
            <a:ext cx="5257668" cy="1950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Prefer ephemeral or write-only values where Terraform and the provider support them. Otherwise, have the server fetch runtime secrets itself at boot.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Clone from a hardened VMware template. Pin provider and module versions so the next apply uses the same tested dependencies.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585" y="6031746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3" dirty="0">
                <a:solidFill>
                  <a:srgbClr val="4C637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Treat state as a secret store, even when the configuration contains no literal passwords.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9498" y="2523927"/>
            <a:ext cx="12700" cy="3330178"/>
          </a:xfrm>
          <a:prstGeom prst="rect">
            <a:avLst/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4C6378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INSTALLATION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418"/>
            <a:ext cx="1097252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22" dirty="0">
                <a:solidFill>
                  <a:srgbClr val="A51F2F"/>
                </a:solidFill>
                <a:latin typeface="Saira Condensed SemiBold" pitchFamily="34" charset="0"/>
                <a:ea typeface="Saira Condensed SemiBold" pitchFamily="34" charset="-122"/>
                <a:cs typeface="Saira Condensed SemiBold" pitchFamily="34" charset="0"/>
              </a:rPr>
              <a:t>Binaries, architectures and packages: get the right build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707059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585" y="1938199"/>
            <a:ext cx="10972526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A binary is a compiled program that runs directly: Terraform is one file; Chef Infra Client is a package with its own bundled Ruby.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634357"/>
          <a:ext cx="10972526" cy="914400"/>
        </p:xfrm>
        <a:graphic>
          <a:graphicData uri="http://schemas.openxmlformats.org/drawingml/2006/table">
            <a:tbl>
              <a:tblPr/>
              <a:tblGrid>
                <a:gridCol w="2633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9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78" dirty="0">
                          <a:solidFill>
                            <a:srgbClr val="3F566B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0"/>
                        </a:rPr>
                        <a:t>ITEM</a:t>
                      </a:r>
                      <a:endParaRPr lang="en-US" sz="13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25399" marR="126997" marT="38099" marB="38099" anchor="ctr">
                    <a:lnL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1F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78" dirty="0">
                          <a:solidFill>
                            <a:srgbClr val="3F566B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0"/>
                        </a:rPr>
                        <a:t>WHERE / MEANING</a:t>
                      </a:r>
                      <a:endParaRPr lang="en-US" sz="13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25399" marR="126997" marT="38099" marB="38099" anchor="ctr">
                    <a:lnL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1F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F566B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0"/>
                        </a:rPr>
                        <a:t>Tool placement</a:t>
                      </a:r>
                      <a:endParaRPr lang="en-US" sz="15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25399" marR="126997" marT="38099" marB="38099" anchor="ctr">
                    <a:lnL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1F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1F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F566B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0"/>
                        </a:rPr>
                        <a:t>Terraform: build machine or CI runner; Chef Infra Client: every server; Chef Workstation: admin machines.</a:t>
                      </a:r>
                      <a:endParaRPr lang="en-US" sz="15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25399" marR="126997" marT="38099" marB="38099" anchor="ctr">
                    <a:lnL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1F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1F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F566B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0"/>
                        </a:rPr>
                        <a:t>Architectures</a:t>
                      </a:r>
                      <a:endParaRPr lang="en-US" sz="15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25399" marR="126997" marT="38099" marB="38099" anchor="ctr">
                    <a:lnL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1F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1F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F566B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0"/>
                        </a:rPr>
                        <a:t>x86-64, AMD64 and x86_64 are the same 64-bit Intel/AMD architecture, named differently by vendors; arm64 is the other common one.</a:t>
                      </a:r>
                      <a:endParaRPr lang="en-US" sz="15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25399" marR="126997" marT="38099" marB="38099" anchor="ctr">
                    <a:lnL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1F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1F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8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F566B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0"/>
                        </a:rPr>
                        <a:t>Packages</a:t>
                      </a:r>
                      <a:endParaRPr lang="en-US" sz="15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25399" marR="126997" marT="38099" marB="38099" anchor="ctr">
                    <a:lnL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1F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F566B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0"/>
                        </a:rPr>
                        <a:t>RPM is a package format for RHEL-family distros; Debian and Ubuntu use .deb. An x86_64 RPM means that format on a 64-bit Intel/AMD CPU.</a:t>
                      </a:r>
                      <a:endParaRPr lang="en-US" sz="15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25399" marR="126997" marT="38099" marB="38099" anchor="ctr">
                    <a:lnL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1F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4935399"/>
            <a:ext cx="10972526" cy="532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Match OS, architecture and package format; a wrong build fails with an </a:t>
            </a:r>
            <a:r>
              <a:rPr lang="en-US" sz="1500" dirty="0">
                <a:solidFill>
                  <a:srgbClr val="3F566B"/>
                </a:solidFill>
                <a:highlight>
                  <a:srgbClr val="FCFAF4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exec format error</a:t>
            </a: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. </a:t>
            </a:r>
            <a:r>
              <a:rPr lang="en-US" sz="1500" dirty="0">
                <a:solidFill>
                  <a:srgbClr val="3F566B"/>
                </a:solidFill>
                <a:highlight>
                  <a:srgbClr val="FCFAF4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uname -m</a:t>
            </a: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 shows what you have.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9585" y="5644098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3" dirty="0">
                <a:solidFill>
                  <a:srgbClr val="4C637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Pin versions · Verify checksums · Mirror binaries in an internal repository for air-gapped servers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4C6378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FIRST-BOOT CONTRACT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418"/>
            <a:ext cx="1097252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22" dirty="0">
                <a:solidFill>
                  <a:srgbClr val="A51F2F"/>
                </a:solidFill>
                <a:latin typeface="Saira Condensed SemiBold" pitchFamily="34" charset="0"/>
                <a:ea typeface="Saira Condensed SemiBold" pitchFamily="34" charset="-122"/>
                <a:cs typeface="Saira Condensed SemiBold" pitchFamily="34" charset="0"/>
              </a:rPr>
              <a:t>Hand off from Terraform to Chef with a clean bootstrap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707059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585" y="1938199"/>
            <a:ext cx="10972526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Pass bootstrap identity material through guestinfo or cloud-init, not application secrets. A role ID identifies an AppRole; it is not sufficient to authenticate without the required SecretID.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3170337"/>
            <a:ext cx="838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A51F2F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0"/>
              </a:rPr>
              <a:t>01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5" y="3437037"/>
            <a:ext cx="3352716" cy="19050"/>
          </a:xfrm>
          <a:prstGeom prst="rect">
            <a:avLst/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9585" y="3577054"/>
            <a:ext cx="335271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Deliver identity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585" y="4005024"/>
            <a:ext cx="3352716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Supply a role ID and a securely delivered, response-wrapped SecretID where AppRole is used. Keep bootstrap material short-lived.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19489" y="3170337"/>
            <a:ext cx="838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A51F2F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0"/>
              </a:rPr>
              <a:t>02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19489" y="3437037"/>
            <a:ext cx="3352716" cy="19050"/>
          </a:xfrm>
          <a:prstGeom prst="rect">
            <a:avLst/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19489" y="3577054"/>
            <a:ext cx="335271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Authenticate at boot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19489" y="4005024"/>
            <a:ext cx="3352716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The server unwraps once, logs in to Vault and fetches its own secrets. Remove temporary bootstrap material after use.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394" y="3170337"/>
            <a:ext cx="838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A51F2F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0"/>
              </a:rPr>
              <a:t>03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394" y="3437037"/>
            <a:ext cx="3352716" cy="19050"/>
          </a:xfrm>
          <a:prstGeom prst="rect">
            <a:avLst/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394" y="3577054"/>
            <a:ext cx="335271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Enroll and converge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394" y="4005024"/>
            <a:ext cx="3352716" cy="1314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Use a per-node Chef key, not a shared validator key. Assign pinned, versioned cookbooks through Policyfiles.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9585" y="6031845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3" dirty="0">
                <a:solidFill>
                  <a:srgbClr val="4C637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Make provisioning idempotent: a failed run should be safe to repeat.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4C6378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CONFIGURATION MANAGEMENT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418"/>
            <a:ext cx="1097252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22" dirty="0">
                <a:solidFill>
                  <a:srgbClr val="A51F2F"/>
                </a:solidFill>
                <a:latin typeface="Saira Condensed SemiBold" pitchFamily="34" charset="0"/>
                <a:ea typeface="Saira Condensed SemiBold" pitchFamily="34" charset="-122"/>
                <a:cs typeface="Saira Condensed SemiBold" pitchFamily="34" charset="0"/>
              </a:rPr>
              <a:t>Chef: configure servers and read secrets safely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707059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585" y="1943914"/>
            <a:ext cx="525766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Keep secrets out of persistence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2370931"/>
            <a:ext cx="5257668" cy="169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Fetch secrets from Vault at converge time, as resources execute. Mark consuming resources </a:t>
            </a:r>
            <a:r>
              <a:rPr lang="en-US" sz="1500" dirty="0">
                <a:solidFill>
                  <a:srgbClr val="3F566B"/>
                </a:solidFill>
                <a:highlight>
                  <a:srgbClr val="FCFAF4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sensitive</a:t>
            </a: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 so logs do not expose their values.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Avoid plain data bags and node attributes for secrets. They are persisted on the Chef server, beyond the lifetime of a single run.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24442" y="1943914"/>
            <a:ext cx="525766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Make configuration repeatable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24442" y="2370931"/>
            <a:ext cx="5257668" cy="2213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Keep cookbooks small and share a base hardening policy across every server. Test with Test Kitchen and InSpec before production.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Apply rotations by re-running Chef, or use Vault Agent templates for updated secret files. Ensure services reload when their credentials change.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585" y="6031746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3" dirty="0">
                <a:solidFill>
                  <a:srgbClr val="4C637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Sensitive logging is a safeguard, not a substitute for avoiding secret output in custom scripts.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9498" y="1937246"/>
            <a:ext cx="12700" cy="3916859"/>
          </a:xfrm>
          <a:prstGeom prst="rect">
            <a:avLst/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345431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4C6378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REFERENCE 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418"/>
            <a:ext cx="2844729" cy="2346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22" dirty="0">
                <a:solidFill>
                  <a:srgbClr val="A51F2F"/>
                </a:solidFill>
                <a:latin typeface="Saira Condensed SemiBold" pitchFamily="34" charset="0"/>
                <a:ea typeface="Saira Condensed SemiBold" pitchFamily="34" charset="-122"/>
                <a:cs typeface="Saira Condensed SemiBold" pitchFamily="34" charset="0"/>
              </a:rPr>
              <a:t>The reference setup for an Ansible control node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3467100"/>
            <a:ext cx="2844729" cy="12601"/>
          </a:xfrm>
          <a:prstGeom prst="roundRect">
            <a:avLst>
              <a:gd name="adj" fmla="val 49998"/>
            </a:avLst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525838"/>
            <a:ext cx="2844729" cy="19778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586055"/>
            <a:ext cx="2844729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3" dirty="0">
                <a:solidFill>
                  <a:srgbClr val="4C637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The control node runs playbooks against other servers.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63898" y="380305"/>
            <a:ext cx="838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A51F2F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444988" y="362268"/>
            <a:ext cx="713712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Create the VM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444988" y="790238"/>
            <a:ext cx="7137122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Terraform clones the hardened template and registers the node’s scoped Vault role.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063898" y="1670546"/>
            <a:ext cx="838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A51F2F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0"/>
              </a:rPr>
              <a:t>02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44988" y="1652508"/>
            <a:ext cx="713712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Authenticate on first boot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444988" y="2080478"/>
            <a:ext cx="7137122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The server logs in to Vault using bootstrap credentials and retrieves its secrets.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063898" y="2960886"/>
            <a:ext cx="838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A51F2F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0"/>
              </a:rPr>
              <a:t>03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444988" y="2942848"/>
            <a:ext cx="713712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Install the control environment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444988" y="3370818"/>
            <a:ext cx="7137122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Chef installs pinned Ansible versions in a Python virtualenv, then creates the service account and directories.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063898" y="4251226"/>
            <a:ext cx="838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A51F2F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0"/>
              </a:rPr>
              <a:t>04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444988" y="4233188"/>
            <a:ext cx="713712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Add Vault integration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444988" y="4661158"/>
            <a:ext cx="7137122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Chef installs the Vault client and required Ansible collections and Python dependencies.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063898" y="5541566"/>
            <a:ext cx="838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A51F2F"/>
                </a:solidFill>
                <a:latin typeface="Spline Sans Mono SemiBold" pitchFamily="34" charset="0"/>
                <a:ea typeface="Spline Sans Mono SemiBold" pitchFamily="34" charset="-122"/>
                <a:cs typeface="Spline Sans Mono SemiBold" pitchFamily="34" charset="0"/>
              </a:rPr>
              <a:t>05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444988" y="5523528"/>
            <a:ext cx="713712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Generate inventory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444988" y="5951498"/>
            <a:ext cx="7137122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Terraform outputs inventory for the hosts the control node will manage. Keep credentials out of inventory.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063898" y="1487091"/>
            <a:ext cx="7518212" cy="12700"/>
          </a:xfrm>
          <a:prstGeom prst="rect">
            <a:avLst/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063898" y="2777430"/>
            <a:ext cx="7518212" cy="12700"/>
          </a:xfrm>
          <a:prstGeom prst="rect">
            <a:avLst/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063898" y="4067770"/>
            <a:ext cx="7518212" cy="12700"/>
          </a:xfrm>
          <a:prstGeom prst="rect">
            <a:avLst/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063898" y="5358110"/>
            <a:ext cx="7518212" cy="12700"/>
          </a:xfrm>
          <a:prstGeom prst="rect">
            <a:avLst/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4C6378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WORKLOAD ACCESS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418"/>
            <a:ext cx="10972526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22" dirty="0">
                <a:solidFill>
                  <a:srgbClr val="A51F2F"/>
                </a:solidFill>
                <a:latin typeface="Saira Condensed SemiBold" pitchFamily="34" charset="0"/>
                <a:ea typeface="Saira Condensed SemiBold" pitchFamily="34" charset="-122"/>
                <a:cs typeface="Saira Condensed SemiBold" pitchFamily="34" charset="0"/>
              </a:rPr>
              <a:t>Connect Ansible to Vault, and let Vault sign its SSH access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293739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585" y="2523927"/>
            <a:ext cx="10972526" cy="1235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Use Vault’s SSH secrets engine to sign short-lived SSH certificates. Managed hosts trust the signing CA’s public key; private keys stay on the control node, not on managed hosts.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Read playbook secrets with the </a:t>
            </a:r>
            <a:r>
              <a:rPr lang="en-US" sz="1500" dirty="0">
                <a:solidFill>
                  <a:srgbClr val="3F566B"/>
                </a:solidFill>
                <a:highlight>
                  <a:srgbClr val="FCFAF4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community.hashi_vault</a:t>
            </a: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 collection’s </a:t>
            </a:r>
            <a:r>
              <a:rPr lang="en-US" sz="1500" dirty="0">
                <a:solidFill>
                  <a:srgbClr val="3F566B"/>
                </a:solidFill>
                <a:highlight>
                  <a:srgbClr val="FCFAF4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hashi_vault</a:t>
            </a: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 lookup instead of storing values in files. Use </a:t>
            </a:r>
            <a:r>
              <a:rPr lang="en-US" sz="1500" dirty="0">
                <a:solidFill>
                  <a:srgbClr val="3F566B"/>
                </a:solidFill>
                <a:highlight>
                  <a:srgbClr val="FCFAF4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ansible-vault</a:t>
            </a: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 only for bootstrap values, if at all.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4419521"/>
            <a:ext cx="525766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Chef owns the control node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4847491"/>
            <a:ext cx="525766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Operating system, hardening, service account, Python virtualenv and installed tooling.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24442" y="4419521"/>
            <a:ext cx="525766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Ansible owns managed hosts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24442" y="4847491"/>
            <a:ext cx="525766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Playbooks configure the remote servers. Keep their file ownership separate from Chef’s.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585" y="6031845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13" dirty="0">
                <a:solidFill>
                  <a:srgbClr val="4C637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Constrain certificate principals and TTLs in the Vault role; protect the control node’s private key.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9498" y="4412853"/>
            <a:ext cx="12700" cy="959346"/>
          </a:xfrm>
          <a:prstGeom prst="rect">
            <a:avLst/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8177"/>
            <a:ext cx="6908627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22" dirty="0">
                <a:solidFill>
                  <a:srgbClr val="A51F2F"/>
                </a:solidFill>
                <a:latin typeface="Saira Condensed SemiBold" pitchFamily="34" charset="0"/>
                <a:ea typeface="Saira Condensed SemiBold" pitchFamily="34" charset="-122"/>
                <a:cs typeface="Saira Condensed SemiBold" pitchFamily="34" charset="0"/>
              </a:rPr>
              <a:t>Pre-flight checklist and common mistakes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2019498"/>
            <a:ext cx="6908528" cy="12601"/>
          </a:xfrm>
          <a:prstGeom prst="roundRect">
            <a:avLst>
              <a:gd name="adj" fmla="val 49998"/>
            </a:avLst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585" y="2411928"/>
            <a:ext cx="690862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Verify the release boundary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2838946"/>
            <a:ext cx="6908627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Scoped Vault roles and audit logging enabled.</a:t>
            </a:r>
            <a:endParaRPr lang="en-US" sz="1500" dirty="0"/>
          </a:p>
          <a:p>
            <a:pPr marL="304800" indent="-304800" algn="l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Encrypted, access-controlled state; no secrets in code.</a:t>
            </a:r>
            <a:endParaRPr lang="en-US" sz="1500" dirty="0"/>
          </a:p>
          <a:p>
            <a:pPr marL="304800" indent="-304800" algn="l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Pinned tool versions and tested cookbooks.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4056380"/>
            <a:ext cx="690862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3F566B"/>
                </a:solidFill>
                <a:latin typeface="Spline Sans Mono Medium" pitchFamily="34" charset="0"/>
                <a:ea typeface="Spline Sans Mono Medium" pitchFamily="34" charset="-122"/>
                <a:cs typeface="Spline Sans Mono Medium" pitchFamily="34" charset="0"/>
              </a:rPr>
              <a:t>Reject these failure patterns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4483398"/>
            <a:ext cx="6908627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One root token shared across tools.</a:t>
            </a:r>
            <a:endParaRPr lang="en-US" sz="1500" dirty="0"/>
          </a:p>
          <a:p>
            <a:pPr marL="304800" indent="-304800" algn="l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Plaintext secrets in Terraform state or Chef attributes.</a:t>
            </a:r>
            <a:endParaRPr lang="en-US" sz="1500" dirty="0"/>
          </a:p>
          <a:p>
            <a:pPr marL="304800" indent="-304800" algn="l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Chef and Ansible both managing the same files.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5755382"/>
            <a:ext cx="2279692" cy="12601"/>
          </a:xfrm>
          <a:prstGeom prst="roundRect">
            <a:avLst>
              <a:gd name="adj" fmla="val 49998"/>
            </a:avLst>
          </a:prstGeom>
          <a:solidFill>
            <a:srgbClr val="A51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9585" y="5986522"/>
            <a:ext cx="7518212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3F56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Build one server end to end in a lab, then template it.</a:t>
            </a:r>
            <a:endParaRPr lang="en-US" sz="15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381" y="609600"/>
            <a:ext cx="2844729" cy="511690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37381" y="5808901"/>
            <a:ext cx="2844729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4C637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Lab first.</a:t>
            </a:r>
            <a:endParaRPr lang="en-US" sz="13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4C637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0"/>
              </a:rPr>
              <a:t>Repeatable before reusable.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Lorenzo McGhie</cp:lastModifiedBy>
  <cp:revision>2</cp:revision>
  <dcterms:created xsi:type="dcterms:W3CDTF">2026-10-25T20:11:18Z</dcterms:created>
  <dcterms:modified xsi:type="dcterms:W3CDTF">2026-10-25T20:11:37Z</dcterms:modified>
</cp:coreProperties>
</file>